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7772400" cy="9715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[ 01 / PROBLEM &amp; PIVOT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Why Predicting Stock Prices is an Anti-Pattern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6492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Predicting raw price points (P_t+30) creates a delayed echo of yesterday. Real financial ML forecasts stationary forward returns.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7171"/>
                </a:solidFill>
                <a:latin typeface="Consolas"/>
              </a:defRPr>
            </a:pPr>
            <a:r>
              <a:t>[ THE MISTAKE: RAW NOMINAL PRICE ]</a:t>
            </a:r>
          </a:p>
          <a:p>
            <a:pPr>
              <a:spcBef>
                <a:spcPts val="600"/>
              </a:spcBef>
              <a:defRPr sz="1800" b="1">
                <a:solidFill>
                  <a:srgbClr val="F8FAFC"/>
                </a:solidFill>
                <a:latin typeface="Trebuchet MS"/>
              </a:defRPr>
            </a:pPr>
            <a:r>
              <a:t>P_hat(t+30) ~= P_t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Non-stationary prices trick models into outputting today's price as tomorrow's forecast with synthetic 98% R^2 and zero actual alpha.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4360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08076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Consolas"/>
              </a:defRPr>
            </a:pPr>
            <a:r>
              <a:t>[ THE FIX: 30-DAY FORWARD LOG RETURN ]</a:t>
            </a:r>
          </a:p>
          <a:p>
            <a:pPr>
              <a:spcBef>
                <a:spcPts val="600"/>
              </a:spcBef>
              <a:defRPr sz="1800" b="1">
                <a:solidFill>
                  <a:srgbClr val="F8FAFC"/>
                </a:solidFill>
                <a:latin typeface="Trebuchet MS"/>
              </a:defRPr>
            </a:pPr>
            <a:r>
              <a:t>y_t = ln( P_{t+30} / P_t )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Enforces stationarity across all 26 Colombo Stock Exchange equities, forcing models to learn genuine momentum and cyclical turning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96112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COLOMBO STOCK EXCHANGE (CSE) MLOPS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[ 02 / UNCERTAINTY CONES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Replacing Point Estimates with Risk Envelopes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6492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Markets are probabilistic. We train three Multi-Quantile LightGBM models minimizing Pinball Loss.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6492240" cy="1554480"/>
          </a:xfrm>
          <a:prstGeom prst="rect">
            <a:avLst/>
          </a:prstGeom>
          <a:solidFill>
            <a:srgbClr val="111722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01568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7171"/>
                </a:solidFill>
                <a:latin typeface="Trebuchet MS"/>
              </a:defRPr>
            </a:pPr>
            <a:r>
              <a:t>P10 Floor   </a:t>
            </a:r>
            <a:r>
              <a:rPr sz="1100">
                <a:solidFill>
                  <a:srgbClr val="64748B"/>
                </a:solidFill>
                <a:latin typeface="Consolas"/>
              </a:rPr>
              <a:t>[Quantile 0.10]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  <a:latin typeface="Calibri"/>
              </a:defRPr>
            </a:pPr>
            <a:r>
              <a:t>Downside Value-at-Risk support boundary. Penalizes extreme drawdowns 9x more than upside misses.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6492240" cy="155448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84648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Trebuchet MS"/>
              </a:defRPr>
            </a:pPr>
            <a:r>
              <a:t>P50 Median   </a:t>
            </a:r>
            <a:r>
              <a:rPr sz="1100">
                <a:solidFill>
                  <a:srgbClr val="64748B"/>
                </a:solidFill>
                <a:latin typeface="Consolas"/>
              </a:rPr>
              <a:t>[Quantile 0.50]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  <a:latin typeface="Calibri"/>
              </a:defRPr>
            </a:pPr>
            <a:r>
              <a:t>Expected median return trajectory. Minimizes MAE, robust against illiquid price spikes.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858000"/>
            <a:ext cx="6492240" cy="155448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967728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Trebuchet MS"/>
              </a:defRPr>
            </a:pPr>
            <a:r>
              <a:t>P90 Ceiling   </a:t>
            </a:r>
            <a:r>
              <a:rPr sz="1100">
                <a:solidFill>
                  <a:srgbClr val="64748B"/>
                </a:solidFill>
                <a:latin typeface="Consolas"/>
              </a:rPr>
              <a:t>[Quantile 0.90]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  <a:latin typeface="Calibri"/>
              </a:defRPr>
            </a:pPr>
            <a:r>
              <a:t>Bullish expansion envelope indicating upper momentum resistance levels.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896112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COLOMBO STOCK EXCHANGE (CSE) MLOPS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[ 03 / VALIDATION RIGOR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Zero Lookahead Leakage: Purged &amp; Embargoed 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6492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A 30-day forward return target leaks data if standard K-Fold CV is used. We enforce a 30-day purge buffer.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[ 5-FOLD EXPANDING TIMELINE WITH EMBARGO ]</a:t>
            </a:r>
          </a:p>
          <a:p>
            <a:pPr>
              <a:spcBef>
                <a:spcPts val="1000"/>
              </a:spcBef>
              <a:defRPr sz="1000">
                <a:solidFill>
                  <a:srgbClr val="F8FAFC"/>
                </a:solidFill>
                <a:latin typeface="Consolas"/>
              </a:defRPr>
            </a:pPr>
            <a:r>
              <a:t>Fold 1: [== Train ==] [Purge: 30d] [Test: 60d] [Embargo: 30d]</a:t>
            </a:r>
            <a:br/>
            <a:r>
              <a:t>Fold 2: [==== Train ====] [Purge: 30d] [Test: 60d] [Embargo: 30d]</a:t>
            </a:r>
            <a:br/>
            <a:r>
              <a:t>Fold 3: [====== Train ======] [Purge: 30d] [Test: 60d]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43600"/>
            <a:ext cx="315468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080760"/>
            <a:ext cx="2788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Consolas"/>
              </a:defRPr>
            </a:pPr>
            <a:r>
              <a:t>30-DAY PURGE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Drops training samples whose 30-day horizon overlaps with test dates.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5943600"/>
            <a:ext cx="315468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520" y="6080760"/>
            <a:ext cx="2788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Consolas"/>
              </a:defRPr>
            </a:pPr>
            <a:r>
              <a:t>30-DAY EMBARGO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Blocks post-test auto-correlation spillover into future folds.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896112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COLOMBO STOCK EXCHANGE (CSE) MLOPS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[ 04 / EXPLAINABLE AI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Solving the Black-Box Dilemma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6492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Bridging mathematical Shapley attributions with institutional trader heuristic cards.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Consolas"/>
              </a:defRPr>
            </a:pPr>
            <a:r>
              <a:t>[ LAYER 1: MATHEMATICAL TREESHAP ]</a:t>
            </a:r>
          </a:p>
          <a:p>
            <a:pPr>
              <a:spcBef>
                <a:spcPts val="600"/>
              </a:spcBef>
              <a:defRPr sz="1800" b="1">
                <a:solidFill>
                  <a:srgbClr val="F8FAFC"/>
                </a:solidFill>
                <a:latin typeface="Trebuchet MS"/>
              </a:defRPr>
            </a:pPr>
            <a:r>
              <a:t>Exact Additive Shapley Values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Decomposes predicted return into exact basis-point contributions: Parkinson Volatility, RSI momentum, and ASPI relative alpha.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43600"/>
            <a:ext cx="6492240" cy="237744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08076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LAYER 2: DOMAIN HEURISTIC ALIGNMENT ]</a:t>
            </a:r>
          </a:p>
          <a:p>
            <a:pPr>
              <a:spcBef>
                <a:spcPts val="600"/>
              </a:spcBef>
              <a:defRPr sz="1800" b="1">
                <a:solidFill>
                  <a:srgbClr val="F8FAFC"/>
                </a:solidFill>
                <a:latin typeface="Trebuchet MS"/>
              </a:defRPr>
            </a:pPr>
            <a:r>
              <a:t>Trader Intuition Validation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Cross-verifies setup across Wilder RSI, 20/50 SMA trend, Parkinson volatility, and Volume surge into Supporting, Risk, or Neutral badges.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96112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COLOMBO STOCK EXCHANGE (CSE) MLOPS</a:t>
            </a:r>
            <a:r>
              <a:rPr b="1">
                <a:solidFill>
                  <a:srgbClr val="38BDF8"/>
                </a:solidFill>
              </a:rPr>
              <a:t>   |   Swipe 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97155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[ 05 / RESULTS &amp; STACK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Empirical Results &amp; Live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6492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Validated out-of-sample edge deployed on a zero-cost 100% free cloud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2011680" cy="210312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828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Trebuchet MS"/>
              </a:defRPr>
            </a:pPr>
            <a:r>
              <a:t>58.3%</a:t>
            </a:r>
          </a:p>
          <a:p>
            <a:pPr algn="ctr">
              <a:spcBef>
                <a:spcPts val="400"/>
              </a:spcBef>
              <a:defRPr sz="950" b="1">
                <a:solidFill>
                  <a:srgbClr val="F8FAFC"/>
                </a:solidFill>
                <a:latin typeface="Consolas"/>
              </a:defRPr>
            </a:pPr>
            <a:r>
              <a:t>DIRECTION ACCURACY</a:t>
            </a:r>
          </a:p>
          <a:p>
            <a:pPr algn="ctr">
              <a:spcBef>
                <a:spcPts val="4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+8.3% over Random Walk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3291840"/>
            <a:ext cx="2011680" cy="2103120"/>
          </a:xfrm>
          <a:prstGeom prst="rect">
            <a:avLst/>
          </a:prstGeom>
          <a:solidFill>
            <a:srgbClr val="11172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474720"/>
            <a:ext cx="1828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Trebuchet MS"/>
              </a:defRPr>
            </a:pPr>
            <a:r>
              <a:t>79.4%</a:t>
            </a:r>
          </a:p>
          <a:p>
            <a:pPr algn="ctr">
              <a:spcBef>
                <a:spcPts val="400"/>
              </a:spcBef>
              <a:defRPr sz="950" b="1">
                <a:solidFill>
                  <a:srgbClr val="F8FAFC"/>
                </a:solidFill>
                <a:latin typeface="Consolas"/>
              </a:defRPr>
            </a:pPr>
            <a:r>
              <a:t>EMPIRICAL COVERAGE</a:t>
            </a:r>
          </a:p>
          <a:p>
            <a:pPr algn="ctr">
              <a:spcBef>
                <a:spcPts val="4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Inside P10-P90 Cone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3291840"/>
            <a:ext cx="2011680" cy="2103120"/>
          </a:xfrm>
          <a:prstGeom prst="rect">
            <a:avLst/>
          </a:prstGeom>
          <a:solidFill>
            <a:srgbClr val="111722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3474720"/>
            <a:ext cx="1828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84FC"/>
                </a:solidFill>
                <a:latin typeface="Trebuchet MS"/>
              </a:defRPr>
            </a:pPr>
            <a:r>
              <a:t>26+1</a:t>
            </a:r>
          </a:p>
          <a:p>
            <a:pPr algn="ctr">
              <a:spcBef>
                <a:spcPts val="400"/>
              </a:spcBef>
              <a:defRPr sz="950" b="1">
                <a:solidFill>
                  <a:srgbClr val="F8FAFC"/>
                </a:solidFill>
                <a:latin typeface="Consolas"/>
              </a:defRPr>
            </a:pPr>
            <a:r>
              <a:t>EQUITIES + ASPI</a:t>
            </a:r>
          </a:p>
          <a:p>
            <a:pPr algn="ctr">
              <a:spcBef>
                <a:spcPts val="400"/>
              </a:spcBef>
              <a:defRPr sz="950">
                <a:solidFill>
                  <a:srgbClr val="64748B"/>
                </a:solidFill>
                <a:latin typeface="Calibri"/>
              </a:defRPr>
            </a:pPr>
            <a:r>
              <a:t>Automated Daily Sync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669280"/>
            <a:ext cx="6492240" cy="2651760"/>
          </a:xfrm>
          <a:prstGeom prst="rect">
            <a:avLst/>
          </a:prstGeom>
          <a:solidFill>
            <a:srgbClr val="1117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Consolas"/>
              </a:defRPr>
            </a:pPr>
            <a:r>
              <a:t>[ ZERO-COST PRODUCTION STACK ]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Consolas"/>
              </a:defRPr>
            </a:pPr>
            <a:r>
              <a:t>• Frontend Terminal    : React 19 + TypeScript on Vercel Edge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Consolas"/>
              </a:defRPr>
            </a:pPr>
            <a:r>
              <a:t>• Serving REST API     : FastAPI Container on Render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Consolas"/>
              </a:defRPr>
            </a:pPr>
            <a:r>
              <a:t>• Cloud Database       : PostgreSQL 15 on Supabase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Consolas"/>
              </a:defRPr>
            </a:pPr>
            <a:r>
              <a:t>• Post-Market Pipeline : Automated Cron (15:00 SLST) on GitHub 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896112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onsolas"/>
              </a:defRPr>
            </a:pPr>
            <a:r>
              <a:t>COLOMBO STOCK EXCHANGE (CSE) MLOPS</a:t>
            </a:r>
            <a:r>
              <a:rPr b="1">
                <a:solidFill>
                  <a:srgbClr val="38BDF8"/>
                </a:solidFill>
              </a:rPr>
              <a:t>   |   [05 / 05]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