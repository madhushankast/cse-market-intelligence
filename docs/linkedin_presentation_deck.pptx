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7772400" cy="9715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0" cy="97155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6492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Consolas"/>
              </a:defRPr>
            </a:pPr>
            <a:r>
              <a:t>[ 01 / THE CORE PROBLEM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96112"/>
            <a:ext cx="6492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Trebuchet MS"/>
              </a:defRPr>
            </a:pPr>
            <a:r>
              <a:t>Why Most Stock AI Models Fail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57400"/>
            <a:ext cx="6492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Calibri"/>
              </a:defRPr>
            </a:pPr>
            <a:r>
              <a:t>Most beginners make one critical mistake: trying to predict exact stock prices instead of trend and momentum.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017520"/>
            <a:ext cx="6492240" cy="2468880"/>
          </a:xfrm>
          <a:prstGeom prst="rect">
            <a:avLst/>
          </a:prstGeom>
          <a:solidFill>
            <a:srgbClr val="111722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154680"/>
            <a:ext cx="6126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87171"/>
                </a:solidFill>
                <a:latin typeface="Consolas"/>
              </a:defRPr>
            </a:pPr>
            <a:r>
              <a:t>THE TRAP: PREDICTING RAW PRICES</a:t>
            </a:r>
          </a:p>
          <a:p>
            <a:pPr>
              <a:spcBef>
                <a:spcPts val="600"/>
              </a:spcBef>
              <a:defRPr sz="1700" b="1">
                <a:solidFill>
                  <a:srgbClr val="F8FAFC"/>
                </a:solidFill>
                <a:latin typeface="Trebuchet MS"/>
              </a:defRPr>
            </a:pPr>
            <a:r>
              <a:t>The AI Just Copies Yesterday's Price</a:t>
            </a:r>
          </a:p>
          <a:p>
            <a:pPr>
              <a:spcBef>
                <a:spcPts val="800"/>
              </a:spcBef>
              <a:defRPr sz="1300">
                <a:solidFill>
                  <a:srgbClr val="94A3B8"/>
                </a:solidFill>
                <a:latin typeface="Calibri"/>
              </a:defRPr>
            </a:pPr>
            <a:r>
              <a:t>If a stock was Rs. 100 yesterday, the AI predicts Rs. 100 tomorrow. It displays fake 99% accuracy on paper, but gives zero real trading value.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669280"/>
            <a:ext cx="6492240" cy="2468880"/>
          </a:xfrm>
          <a:prstGeom prst="rect">
            <a:avLst/>
          </a:prstGeom>
          <a:solidFill>
            <a:srgbClr val="111722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806440"/>
            <a:ext cx="6126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Consolas"/>
              </a:defRPr>
            </a:pPr>
            <a:r>
              <a:t>HOW I SOLVED IT</a:t>
            </a:r>
          </a:p>
          <a:p>
            <a:pPr>
              <a:spcBef>
                <a:spcPts val="600"/>
              </a:spcBef>
              <a:defRPr sz="1700" b="1">
                <a:solidFill>
                  <a:srgbClr val="F8FAFC"/>
                </a:solidFill>
                <a:latin typeface="Trebuchet MS"/>
              </a:defRPr>
            </a:pPr>
            <a:r>
              <a:t>Predicting 30-Day Percentage Return &amp; Direction</a:t>
            </a:r>
          </a:p>
          <a:p>
            <a:pPr>
              <a:spcBef>
                <a:spcPts val="800"/>
              </a:spcBef>
              <a:defRPr sz="1300">
                <a:solidFill>
                  <a:srgbClr val="94A3B8"/>
                </a:solidFill>
                <a:latin typeface="Calibri"/>
              </a:defRPr>
            </a:pPr>
            <a:r>
              <a:t>I forced the models to learn whether a stock will grow or fall over the next month, discovering genuine market cycles across 26 top companies.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8412480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64748B"/>
                </a:solidFill>
                <a:latin typeface="Consolas"/>
              </a:defRPr>
            </a:pPr>
            <a:r>
              <a:t>SKILLS &amp; TECH:  </a:t>
            </a:r>
            <a:r>
              <a:rPr sz="950" b="1">
                <a:solidFill>
                  <a:srgbClr val="38BDF8"/>
                </a:solidFill>
                <a:latin typeface="Consolas"/>
              </a:rPr>
              <a:t> [Python] </a:t>
            </a:r>
            <a:r>
              <a:rPr sz="950" b="1">
                <a:solidFill>
                  <a:srgbClr val="38BDF8"/>
                </a:solidFill>
                <a:latin typeface="Consolas"/>
              </a:rPr>
              <a:t> [Pandas] </a:t>
            </a:r>
            <a:r>
              <a:rPr sz="950" b="1">
                <a:solidFill>
                  <a:srgbClr val="38BDF8"/>
                </a:solidFill>
                <a:latin typeface="Consolas"/>
              </a:rPr>
              <a:t> [NumPy] </a:t>
            </a:r>
            <a:r>
              <a:rPr sz="950" b="1">
                <a:solidFill>
                  <a:srgbClr val="38BDF8"/>
                </a:solidFill>
                <a:latin typeface="Consolas"/>
              </a:rPr>
              <a:t> [Statistical Modeling]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9006840"/>
            <a:ext cx="6492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onsolas"/>
              </a:defRPr>
            </a:pPr>
            <a:r>
              <a:t>AI / ML SYSTEM ENGINEERING</a:t>
            </a:r>
            <a:r>
              <a:rPr b="1">
                <a:solidFill>
                  <a:srgbClr val="38BDF8"/>
                </a:solidFill>
              </a:rPr>
              <a:t>   |   Swipe 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0" cy="97155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6492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Consolas"/>
              </a:defRPr>
            </a:pPr>
            <a:r>
              <a:t>[ 02 / DATA PIPELINE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96112"/>
            <a:ext cx="6492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Trebuchet MS"/>
              </a:defRPr>
            </a:pPr>
            <a:r>
              <a:t>Automated &amp; Fast Data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57400"/>
            <a:ext cx="6492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Calibri"/>
              </a:defRPr>
            </a:pPr>
            <a:r>
              <a:t>Good AI requires clean data. I built an end-to-end pipeline that tracks the Colombo Stock Exchange without manual work.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017520"/>
            <a:ext cx="6492240" cy="2377440"/>
          </a:xfrm>
          <a:prstGeom prst="rect">
            <a:avLst/>
          </a:prstGeom>
          <a:solidFill>
            <a:srgbClr val="111722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154680"/>
            <a:ext cx="61264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Consolas"/>
              </a:defRPr>
            </a:pPr>
            <a:r>
              <a:t>DAILY MARKET AUTOMATION</a:t>
            </a:r>
          </a:p>
          <a:p>
            <a:pPr>
              <a:spcBef>
                <a:spcPts val="600"/>
              </a:spcBef>
              <a:defRPr sz="1700" b="1">
                <a:solidFill>
                  <a:srgbClr val="F8FAFC"/>
                </a:solidFill>
                <a:latin typeface="Trebuchet MS"/>
              </a:defRPr>
            </a:pPr>
            <a:r>
              <a:t>Syncs Automatically at 3:00 PM Every Weekday</a:t>
            </a:r>
          </a:p>
          <a:p>
            <a:pPr>
              <a:spcBef>
                <a:spcPts val="800"/>
              </a:spcBef>
              <a:defRPr sz="1300">
                <a:solidFill>
                  <a:srgbClr val="94A3B8"/>
                </a:solidFill>
                <a:latin typeface="Calibri"/>
              </a:defRPr>
            </a:pPr>
            <a:r>
              <a:t>When the Colombo market closes, automated cloud workers fetch closing prices for 26 key companies plus the ASPI index, validate data, and update databases.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577840"/>
            <a:ext cx="6492240" cy="2468880"/>
          </a:xfrm>
          <a:prstGeom prst="rect">
            <a:avLst/>
          </a:prstGeom>
          <a:solidFill>
            <a:srgbClr val="111722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715000"/>
            <a:ext cx="6126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Consolas"/>
              </a:defRPr>
            </a:pPr>
            <a:r>
              <a:t>FAST FEATURE ENGINE</a:t>
            </a:r>
          </a:p>
          <a:p>
            <a:pPr>
              <a:spcBef>
                <a:spcPts val="600"/>
              </a:spcBef>
              <a:defRPr sz="1700" b="1">
                <a:solidFill>
                  <a:srgbClr val="F8FAFC"/>
                </a:solidFill>
                <a:latin typeface="Trebuchet MS"/>
              </a:defRPr>
            </a:pPr>
            <a:r>
              <a:t>22 Market Indicators Calculated in Milliseconds</a:t>
            </a:r>
          </a:p>
          <a:p>
            <a:pPr>
              <a:spcBef>
                <a:spcPts val="800"/>
              </a:spcBef>
              <a:defRPr sz="1300">
                <a:solidFill>
                  <a:srgbClr val="94A3B8"/>
                </a:solidFill>
                <a:latin typeface="Calibri"/>
              </a:defRPr>
            </a:pPr>
            <a:r>
              <a:t>Automatically computes price volatility, RSI momentum, moving averages, and market correlations using ultra-fast columnar Parquet storage.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8412480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64748B"/>
                </a:solidFill>
                <a:latin typeface="Consolas"/>
              </a:defRPr>
            </a:pPr>
            <a:r>
              <a:t>SKILLS &amp; TECH:  </a:t>
            </a:r>
            <a:r>
              <a:rPr sz="950" b="1">
                <a:solidFill>
                  <a:srgbClr val="38BDF8"/>
                </a:solidFill>
                <a:latin typeface="Consolas"/>
              </a:rPr>
              <a:t> [Automated ETL] </a:t>
            </a:r>
            <a:r>
              <a:rPr sz="950" b="1">
                <a:solidFill>
                  <a:srgbClr val="38BDF8"/>
                </a:solidFill>
                <a:latin typeface="Consolas"/>
              </a:rPr>
              <a:t> [Apache Parquet] </a:t>
            </a:r>
            <a:r>
              <a:rPr sz="950" b="1">
                <a:solidFill>
                  <a:srgbClr val="38BDF8"/>
                </a:solidFill>
                <a:latin typeface="Consolas"/>
              </a:rPr>
              <a:t> [REST APIs] </a:t>
            </a:r>
            <a:r>
              <a:rPr sz="950" b="1">
                <a:solidFill>
                  <a:srgbClr val="38BDF8"/>
                </a:solidFill>
                <a:latin typeface="Consolas"/>
              </a:rPr>
              <a:t> [Data Pipelines]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9006840"/>
            <a:ext cx="6492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onsolas"/>
              </a:defRPr>
            </a:pPr>
            <a:r>
              <a:t>AI / ML SYSTEM ENGINEERING</a:t>
            </a:r>
            <a:r>
              <a:rPr b="1">
                <a:solidFill>
                  <a:srgbClr val="38BDF8"/>
                </a:solidFill>
              </a:rPr>
              <a:t>   |   Swipe &gt;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0" cy="97155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6492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Consolas"/>
              </a:defRPr>
            </a:pPr>
            <a:r>
              <a:t>[ 03 / MACHINE LEARNING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96112"/>
            <a:ext cx="6492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Trebuchet MS"/>
              </a:defRPr>
            </a:pPr>
            <a:r>
              <a:t>Predicting Risk, Not Just One Number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57400"/>
            <a:ext cx="6492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Calibri"/>
              </a:defRPr>
            </a:pPr>
            <a:r>
              <a:t>Nobody can predict the future with 100% certainty. Single price guesses are dangerous, so I built a 3-way risk envelope.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017520"/>
            <a:ext cx="6492240" cy="1508760"/>
          </a:xfrm>
          <a:prstGeom prst="rect">
            <a:avLst/>
          </a:prstGeom>
          <a:solidFill>
            <a:srgbClr val="111722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127248"/>
            <a:ext cx="6126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87171"/>
                </a:solidFill>
                <a:latin typeface="Consolas"/>
              </a:defRPr>
            </a:pPr>
            <a:r>
              <a:t>DOWNSIDE FLOOR (P10)</a:t>
            </a:r>
          </a:p>
          <a:p>
            <a:pPr>
              <a:spcBef>
                <a:spcPts val="300"/>
              </a:spcBef>
              <a:defRPr sz="1500" b="1">
                <a:solidFill>
                  <a:srgbClr val="F8FAFC"/>
                </a:solidFill>
                <a:latin typeface="Trebuchet MS"/>
              </a:defRPr>
            </a:pPr>
            <a:r>
              <a:t>Worst-Case Scenario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Calibri"/>
              </a:defRPr>
            </a:pPr>
            <a:r>
              <a:t>Shows where the stock could fall during bad market conditions so investors protect capital.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709160"/>
            <a:ext cx="6492240" cy="1508760"/>
          </a:xfrm>
          <a:prstGeom prst="rect">
            <a:avLst/>
          </a:prstGeom>
          <a:solidFill>
            <a:srgbClr val="111722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818888"/>
            <a:ext cx="6126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Consolas"/>
              </a:defRPr>
            </a:pPr>
            <a:r>
              <a:t>EXPECTED PATH (P50)</a:t>
            </a:r>
          </a:p>
          <a:p>
            <a:pPr>
              <a:spcBef>
                <a:spcPts val="300"/>
              </a:spcBef>
              <a:defRPr sz="1500" b="1">
                <a:solidFill>
                  <a:srgbClr val="F8FAFC"/>
                </a:solidFill>
                <a:latin typeface="Trebuchet MS"/>
              </a:defRPr>
            </a:pPr>
            <a:r>
              <a:t>Most Realistic Outcome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Calibri"/>
              </a:defRPr>
            </a:pPr>
            <a:r>
              <a:t>The realistic expected 30-day trajectory, filtering out daily noise and false spikes.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00800"/>
            <a:ext cx="6492240" cy="1508760"/>
          </a:xfrm>
          <a:prstGeom prst="rect">
            <a:avLst/>
          </a:prstGeom>
          <a:solidFill>
            <a:srgbClr val="111722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510528"/>
            <a:ext cx="6126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D399"/>
                </a:solidFill>
                <a:latin typeface="Consolas"/>
              </a:defRPr>
            </a:pPr>
            <a:r>
              <a:t>UPSIDE CEILING (P90)</a:t>
            </a:r>
          </a:p>
          <a:p>
            <a:pPr>
              <a:spcBef>
                <a:spcPts val="300"/>
              </a:spcBef>
              <a:defRPr sz="1500" b="1">
                <a:solidFill>
                  <a:srgbClr val="F8FAFC"/>
                </a:solidFill>
                <a:latin typeface="Trebuchet MS"/>
              </a:defRPr>
            </a:pPr>
            <a:r>
              <a:t>Best-Case Potential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Calibri"/>
              </a:defRPr>
            </a:pPr>
            <a:r>
              <a:t>Shows the upper resistance level if strong buying momentum continues.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8412480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64748B"/>
                </a:solidFill>
                <a:latin typeface="Consolas"/>
              </a:defRPr>
            </a:pPr>
            <a:r>
              <a:t>SKILLS &amp; TECH:  </a:t>
            </a:r>
            <a:r>
              <a:rPr sz="950" b="1">
                <a:solidFill>
                  <a:srgbClr val="38BDF8"/>
                </a:solidFill>
                <a:latin typeface="Consolas"/>
              </a:rPr>
              <a:t> [LightGBM] </a:t>
            </a:r>
            <a:r>
              <a:rPr sz="950" b="1">
                <a:solidFill>
                  <a:srgbClr val="38BDF8"/>
                </a:solidFill>
                <a:latin typeface="Consolas"/>
              </a:rPr>
              <a:t> [Quantile AI] </a:t>
            </a:r>
            <a:r>
              <a:rPr sz="950" b="1">
                <a:solidFill>
                  <a:srgbClr val="38BDF8"/>
                </a:solidFill>
                <a:latin typeface="Consolas"/>
              </a:rPr>
              <a:t> [Risk Modeling] </a:t>
            </a:r>
            <a:r>
              <a:rPr sz="950" b="1">
                <a:solidFill>
                  <a:srgbClr val="38BDF8"/>
                </a:solidFill>
                <a:latin typeface="Consolas"/>
              </a:rPr>
              <a:t> [Scikit-Learn]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9006840"/>
            <a:ext cx="6492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onsolas"/>
              </a:defRPr>
            </a:pPr>
            <a:r>
              <a:t>AI / ML SYSTEM ENGINEERING</a:t>
            </a:r>
            <a:r>
              <a:rPr b="1">
                <a:solidFill>
                  <a:srgbClr val="38BDF8"/>
                </a:solidFill>
              </a:rPr>
              <a:t>   |   Swipe &gt;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0" cy="97155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6492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Consolas"/>
              </a:defRPr>
            </a:pPr>
            <a:r>
              <a:t>[ 04 / EXPLAINABLE AI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96112"/>
            <a:ext cx="6492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Trebuchet MS"/>
              </a:defRPr>
            </a:pPr>
            <a:r>
              <a:t>Why Did the AI Make This Call?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57400"/>
            <a:ext cx="6492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Calibri"/>
              </a:defRPr>
            </a:pPr>
            <a:r>
              <a:t>Most AI models are mysterious 'black boxes'. You cannot trust real money to a black box, so I built full transparency into every prediction.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017520"/>
            <a:ext cx="6492240" cy="2377440"/>
          </a:xfrm>
          <a:prstGeom prst="rect">
            <a:avLst/>
          </a:prstGeom>
          <a:solidFill>
            <a:srgbClr val="111722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154680"/>
            <a:ext cx="61264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  <a:latin typeface="Consolas"/>
              </a:defRPr>
            </a:pPr>
            <a:r>
              <a:t>FEATURE IMPACT BREAKDOWN (SHAP)</a:t>
            </a:r>
          </a:p>
          <a:p>
            <a:pPr>
              <a:spcBef>
                <a:spcPts val="600"/>
              </a:spcBef>
              <a:defRPr sz="1700" b="1">
                <a:solidFill>
                  <a:srgbClr val="F8FAFC"/>
                </a:solidFill>
                <a:latin typeface="Trebuchet MS"/>
              </a:defRPr>
            </a:pPr>
            <a:r>
              <a:t>Every Prediction Explains Its Reasons</a:t>
            </a:r>
          </a:p>
          <a:p>
            <a:pPr>
              <a:spcBef>
                <a:spcPts val="800"/>
              </a:spcBef>
              <a:defRPr sz="1300">
                <a:solidFill>
                  <a:srgbClr val="94A3B8"/>
                </a:solidFill>
                <a:latin typeface="Calibri"/>
              </a:defRPr>
            </a:pPr>
            <a:r>
              <a:t>Users see exact factors driving the score: e.g. +2.4% strong momentum, -1.2% high market volatility, and +0.8% sector trend.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577840"/>
            <a:ext cx="6492240" cy="2468880"/>
          </a:xfrm>
          <a:prstGeom prst="rect">
            <a:avLst/>
          </a:prstGeom>
          <a:solidFill>
            <a:srgbClr val="111722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715000"/>
            <a:ext cx="6126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Consolas"/>
              </a:defRPr>
            </a:pPr>
            <a:r>
              <a:t>HUMAN-READABLE HEALTH BADGES</a:t>
            </a:r>
          </a:p>
          <a:p>
            <a:pPr>
              <a:spcBef>
                <a:spcPts val="600"/>
              </a:spcBef>
              <a:defRPr sz="1700" b="1">
                <a:solidFill>
                  <a:srgbClr val="F8FAFC"/>
                </a:solidFill>
                <a:latin typeface="Trebuchet MS"/>
              </a:defRPr>
            </a:pPr>
            <a:r>
              <a:t>Instant Decision Checklist</a:t>
            </a:r>
          </a:p>
          <a:p>
            <a:pPr>
              <a:spcBef>
                <a:spcPts val="800"/>
              </a:spcBef>
              <a:defRPr sz="1300">
                <a:solidFill>
                  <a:srgbClr val="94A3B8"/>
                </a:solidFill>
                <a:latin typeface="Calibri"/>
              </a:defRPr>
            </a:pPr>
            <a:r>
              <a:t>Translates complex numbers into clear signals: SUPPORTING (healthy trend), RISK WARNING (overheated price), or NEUTRAL (market consolidation).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8412480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64748B"/>
                </a:solidFill>
                <a:latin typeface="Consolas"/>
              </a:defRPr>
            </a:pPr>
            <a:r>
              <a:t>SKILLS &amp; TECH:  </a:t>
            </a:r>
            <a:r>
              <a:rPr sz="950" b="1">
                <a:solidFill>
                  <a:srgbClr val="38BDF8"/>
                </a:solidFill>
                <a:latin typeface="Consolas"/>
              </a:rPr>
              <a:t> [SHAP Explainability] </a:t>
            </a:r>
            <a:r>
              <a:rPr sz="950" b="1">
                <a:solidFill>
                  <a:srgbClr val="38BDF8"/>
                </a:solidFill>
                <a:latin typeface="Consolas"/>
              </a:rPr>
              <a:t> [Decision Intelligence] </a:t>
            </a:r>
            <a:r>
              <a:rPr sz="950" b="1">
                <a:solidFill>
                  <a:srgbClr val="38BDF8"/>
                </a:solidFill>
                <a:latin typeface="Consolas"/>
              </a:rPr>
              <a:t> [Transparent AI]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9006840"/>
            <a:ext cx="6492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onsolas"/>
              </a:defRPr>
            </a:pPr>
            <a:r>
              <a:t>AI / ML SYSTEM ENGINEERING</a:t>
            </a:r>
            <a:r>
              <a:rPr b="1">
                <a:solidFill>
                  <a:srgbClr val="38BDF8"/>
                </a:solidFill>
              </a:rPr>
              <a:t>   |   Swipe 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0" cy="97155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6492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Consolas"/>
              </a:defRPr>
            </a:pPr>
            <a:r>
              <a:t>[ 05 / FULL-STACK DEPLOYMENT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96112"/>
            <a:ext cx="6492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Trebuchet MS"/>
              </a:defRPr>
            </a:pPr>
            <a:r>
              <a:t>Built, Tested &amp; Live in the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57400"/>
            <a:ext cx="6492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Calibri"/>
              </a:defRPr>
            </a:pPr>
            <a:r>
              <a:t>Not just a notebook script. A complete, production-grade cloud application running 24/7.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017520"/>
            <a:ext cx="2011680" cy="1828800"/>
          </a:xfrm>
          <a:prstGeom prst="rect">
            <a:avLst/>
          </a:prstGeom>
          <a:solidFill>
            <a:srgbClr val="111722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154680"/>
            <a:ext cx="1828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8BDF8"/>
                </a:solidFill>
                <a:latin typeface="Trebuchet MS"/>
              </a:defRPr>
            </a:pPr>
            <a:r>
              <a:t>58.3%</a:t>
            </a:r>
          </a:p>
          <a:p>
            <a:pPr algn="ctr">
              <a:spcBef>
                <a:spcPts val="400"/>
              </a:spcBef>
              <a:defRPr sz="950" b="1">
                <a:solidFill>
                  <a:srgbClr val="F8FAFC"/>
                </a:solidFill>
                <a:latin typeface="Consolas"/>
              </a:defRPr>
            </a:pPr>
            <a:r>
              <a:t>DIRECTION ACCURACY</a:t>
            </a:r>
          </a:p>
          <a:p>
            <a:pPr algn="ctr">
              <a:spcBef>
                <a:spcPts val="400"/>
              </a:spcBef>
              <a:defRPr sz="950">
                <a:solidFill>
                  <a:srgbClr val="64748B"/>
                </a:solidFill>
                <a:latin typeface="Calibri"/>
              </a:defRPr>
            </a:pPr>
            <a:r>
              <a:t>Outperforms 50/50 odds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360" y="3017520"/>
            <a:ext cx="2011680" cy="1828800"/>
          </a:xfrm>
          <a:prstGeom prst="rect">
            <a:avLst/>
          </a:prstGeom>
          <a:solidFill>
            <a:srgbClr val="111722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3154680"/>
            <a:ext cx="1828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4D399"/>
                </a:solidFill>
                <a:latin typeface="Trebuchet MS"/>
              </a:defRPr>
            </a:pPr>
            <a:r>
              <a:t>79.4%</a:t>
            </a:r>
          </a:p>
          <a:p>
            <a:pPr algn="ctr">
              <a:spcBef>
                <a:spcPts val="400"/>
              </a:spcBef>
              <a:defRPr sz="950" b="1">
                <a:solidFill>
                  <a:srgbClr val="F8FAFC"/>
                </a:solidFill>
                <a:latin typeface="Consolas"/>
              </a:defRPr>
            </a:pPr>
            <a:r>
              <a:t>RISK ENVELOPE</a:t>
            </a:r>
          </a:p>
          <a:p>
            <a:pPr algn="ctr">
              <a:spcBef>
                <a:spcPts val="400"/>
              </a:spcBef>
              <a:defRPr sz="950">
                <a:solidFill>
                  <a:srgbClr val="64748B"/>
                </a:solidFill>
                <a:latin typeface="Calibri"/>
              </a:defRPr>
            </a:pPr>
            <a:r>
              <a:t>Prices stay within cone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0" y="3017520"/>
            <a:ext cx="2011680" cy="1828800"/>
          </a:xfrm>
          <a:prstGeom prst="rect">
            <a:avLst/>
          </a:prstGeom>
          <a:solidFill>
            <a:srgbClr val="111722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0" y="3154680"/>
            <a:ext cx="1828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C084FC"/>
                </a:solidFill>
                <a:latin typeface="Trebuchet MS"/>
              </a:defRPr>
            </a:pPr>
            <a:r>
              <a:t>26+1</a:t>
            </a:r>
          </a:p>
          <a:p>
            <a:pPr algn="ctr">
              <a:spcBef>
                <a:spcPts val="400"/>
              </a:spcBef>
              <a:defRPr sz="950" b="1">
                <a:solidFill>
                  <a:srgbClr val="F8FAFC"/>
                </a:solidFill>
                <a:latin typeface="Consolas"/>
              </a:defRPr>
            </a:pPr>
            <a:r>
              <a:t>COMPANIES &amp; INDEX</a:t>
            </a:r>
          </a:p>
          <a:p>
            <a:pPr algn="ctr">
              <a:spcBef>
                <a:spcPts val="400"/>
              </a:spcBef>
              <a:defRPr sz="950">
                <a:solidFill>
                  <a:srgbClr val="64748B"/>
                </a:solidFill>
                <a:latin typeface="Calibri"/>
              </a:defRPr>
            </a:pPr>
            <a:r>
              <a:t>Updated daily on cloud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029200"/>
            <a:ext cx="6492240" cy="3108960"/>
          </a:xfrm>
          <a:prstGeom prst="rect">
            <a:avLst/>
          </a:prstGeom>
          <a:solidFill>
            <a:srgbClr val="111722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166360"/>
            <a:ext cx="61264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Consolas"/>
              </a:defRPr>
            </a:pPr>
            <a:r>
              <a:t>THE COMPLETE SOFTWARE STACK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  <a:latin typeface="Calibri"/>
              </a:defRPr>
            </a:pPr>
            <a:r>
              <a:t>• Frontend Dashboard: React 19 + TypeScript + TradingView interactive charts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  <a:latin typeface="Calibri"/>
              </a:defRPr>
            </a:pPr>
            <a:r>
              <a:t>• Backend AI API: Python FastAPI running inside a Docker container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  <a:latin typeface="Calibri"/>
              </a:defRPr>
            </a:pPr>
            <a:r>
              <a:t>• Cloud Database: PostgreSQL 15 on Supabase with automated backups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  <a:latin typeface="Calibri"/>
              </a:defRPr>
            </a:pPr>
            <a:r>
              <a:t>• Cloud Automation: GitHub Actions daily sync &amp; automated test suite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8412480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64748B"/>
                </a:solidFill>
                <a:latin typeface="Consolas"/>
              </a:defRPr>
            </a:pPr>
            <a:r>
              <a:t>SKILLS &amp; TECH:  </a:t>
            </a:r>
            <a:r>
              <a:rPr sz="950" b="1">
                <a:solidFill>
                  <a:srgbClr val="38BDF8"/>
                </a:solidFill>
                <a:latin typeface="Consolas"/>
              </a:rPr>
              <a:t> [React 19] </a:t>
            </a:r>
            <a:r>
              <a:rPr sz="950" b="1">
                <a:solidFill>
                  <a:srgbClr val="38BDF8"/>
                </a:solidFill>
                <a:latin typeface="Consolas"/>
              </a:rPr>
              <a:t> [FastAPI] </a:t>
            </a:r>
            <a:r>
              <a:rPr sz="950" b="1">
                <a:solidFill>
                  <a:srgbClr val="38BDF8"/>
                </a:solidFill>
                <a:latin typeface="Consolas"/>
              </a:rPr>
              <a:t> [Docker] </a:t>
            </a:r>
            <a:r>
              <a:rPr sz="950" b="1">
                <a:solidFill>
                  <a:srgbClr val="38BDF8"/>
                </a:solidFill>
                <a:latin typeface="Consolas"/>
              </a:rPr>
              <a:t> [PostgreSQL] </a:t>
            </a:r>
            <a:r>
              <a:rPr sz="950" b="1">
                <a:solidFill>
                  <a:srgbClr val="38BDF8"/>
                </a:solidFill>
                <a:latin typeface="Consolas"/>
              </a:rPr>
              <a:t> [GitHub Actions CI/CD]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9006840"/>
            <a:ext cx="6492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onsolas"/>
              </a:defRPr>
            </a:pPr>
            <a:r>
              <a:t>AI / ML SYSTEM ENGINEERING</a:t>
            </a:r>
            <a:r>
              <a:rPr b="1">
                <a:solidFill>
                  <a:srgbClr val="38BDF8"/>
                </a:solidFill>
              </a:rPr>
              <a:t>   |   [05 / 05]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