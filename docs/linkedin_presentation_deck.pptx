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7772400" cy="9715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97155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6492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[ 01 / FINANCIAL ML MATHEMATICS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F8FAFC"/>
                </a:solidFill>
                <a:latin typeface="Trebuchet MS"/>
              </a:defRPr>
            </a:pPr>
            <a:r>
              <a:t>Solving Time-Series Non-Stationarity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6492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94A3B8"/>
                </a:solidFill>
                <a:latin typeface="Calibri"/>
              </a:defRPr>
            </a:pPr>
            <a:r>
              <a:t>How I engineered a stationary quantitative learning target, eliminating the identity lag trap that plagues naive financial ML.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6492240" cy="2468880"/>
          </a:xfrm>
          <a:prstGeom prst="rect">
            <a:avLst/>
          </a:prstGeom>
          <a:solidFill>
            <a:srgbClr val="111722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6126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7171"/>
                </a:solidFill>
                <a:latin typeface="Consolas"/>
              </a:defRPr>
            </a:pPr>
            <a:r>
              <a:t>THE PERSISTENCE ANTI-PATTERN (I(1) UNIT ROOT)</a:t>
            </a:r>
          </a:p>
          <a:p>
            <a:pPr>
              <a:spcBef>
                <a:spcPts val="600"/>
              </a:spcBef>
              <a:defRPr sz="1700" b="1">
                <a:solidFill>
                  <a:srgbClr val="F8FAFC"/>
                </a:solidFill>
                <a:latin typeface="Trebuchet MS"/>
              </a:defRPr>
            </a:pPr>
            <a:r>
              <a:t>Predicting Raw Nominals: P_hat(t+30) ~= P_t</a:t>
            </a:r>
          </a:p>
          <a:p>
            <a:pPr>
              <a:spcBef>
                <a:spcPts val="800"/>
              </a:spcBef>
              <a:defRPr sz="1250">
                <a:solidFill>
                  <a:srgbClr val="94A3B8"/>
                </a:solidFill>
                <a:latin typeface="Calibri"/>
              </a:defRPr>
            </a:pPr>
            <a:r>
              <a:t>MSE optimization on raw price levels creates identity models: the booster simply outputs yesterday's price with synthetic 98% R^2 and zero predictive alpha.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669280"/>
            <a:ext cx="6492240" cy="2468880"/>
          </a:xfrm>
          <a:prstGeom prst="rect">
            <a:avLst/>
          </a:prstGeom>
          <a:solidFill>
            <a:srgbClr val="11172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806440"/>
            <a:ext cx="6126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Consolas"/>
              </a:defRPr>
            </a:pPr>
            <a:r>
              <a:t>MY MATHEMATICAL FORMULATION</a:t>
            </a:r>
          </a:p>
          <a:p>
            <a:pPr>
              <a:spcBef>
                <a:spcPts val="600"/>
              </a:spcBef>
              <a:defRPr sz="1700" b="1">
                <a:solidFill>
                  <a:srgbClr val="F8FAFC"/>
                </a:solidFill>
                <a:latin typeface="Trebuchet MS"/>
              </a:defRPr>
            </a:pPr>
            <a:r>
              <a:t>y_t = ln( P_{t+30} / P_t )   [Forward Log Return]</a:t>
            </a:r>
          </a:p>
          <a:p>
            <a:pPr>
              <a:spcBef>
                <a:spcPts val="800"/>
              </a:spcBef>
              <a:defRPr sz="1250">
                <a:solidFill>
                  <a:srgbClr val="94A3B8"/>
                </a:solidFill>
                <a:latin typeface="Calibri"/>
              </a:defRPr>
            </a:pPr>
            <a:r>
              <a:t>Induces strict covariance stationarity and scale invariance across 26 CSE blue-chip equities, forcing gradient-boosted trees to isolate genuine momentum and mean-reversion.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41248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Consolas"/>
              </a:defRPr>
            </a:pPr>
            <a:r>
              <a:t>TECH STACK:  </a:t>
            </a:r>
            <a:r>
              <a:rPr sz="950" b="1">
                <a:solidFill>
                  <a:srgbClr val="38BDF8"/>
                </a:solidFill>
                <a:latin typeface="Consolas"/>
              </a:rPr>
              <a:t> [NumPy] </a:t>
            </a:r>
            <a:r>
              <a:rPr sz="950" b="1">
                <a:solidFill>
                  <a:srgbClr val="38BDF8"/>
                </a:solidFill>
                <a:latin typeface="Consolas"/>
              </a:rPr>
              <a:t> [Pandas] </a:t>
            </a:r>
            <a:r>
              <a:rPr sz="950" b="1">
                <a:solidFill>
                  <a:srgbClr val="38BDF8"/>
                </a:solidFill>
                <a:latin typeface="Consolas"/>
              </a:rPr>
              <a:t> [Statistical Stationarity] </a:t>
            </a:r>
            <a:r>
              <a:rPr sz="950" b="1">
                <a:solidFill>
                  <a:srgbClr val="38BDF8"/>
                </a:solidFill>
                <a:latin typeface="Consolas"/>
              </a:rPr>
              <a:t> [Unit Root I(1)]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900684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onsolas"/>
              </a:defRPr>
            </a:pPr>
            <a:r>
              <a:t>AI / ML SYSTEM ENGINEERING</a:t>
            </a:r>
            <a:r>
              <a:rPr b="1">
                <a:solidFill>
                  <a:srgbClr val="38BDF8"/>
                </a:solidFill>
              </a:rPr>
              <a:t>   |   Swipe 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97155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6492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[ 02 / DATA ENGINEERING &amp; LAKEHOUSE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F8FAFC"/>
                </a:solidFill>
                <a:latin typeface="Trebuchet MS"/>
              </a:defRPr>
            </a:pPr>
            <a:r>
              <a:t>High-Throughput Vectorized Feature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6492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94A3B8"/>
                </a:solidFill>
                <a:latin typeface="Calibri"/>
              </a:defRPr>
            </a:pPr>
            <a:r>
              <a:t>Engineered a zero-copy Apache Parquet lakehouse coupled with 22 leak-free microstructure estimators.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6492240" cy="237744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6126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COLUMNAR ZERO-COPY SERVING LAYER</a:t>
            </a:r>
          </a:p>
          <a:p>
            <a:pPr>
              <a:spcBef>
                <a:spcPts val="600"/>
              </a:spcBef>
              <a:defRPr sz="1700" b="1">
                <a:solidFill>
                  <a:srgbClr val="F8FAFC"/>
                </a:solidFill>
                <a:latin typeface="Trebuchet MS"/>
              </a:defRPr>
            </a:pPr>
            <a:r>
              <a:t>Apache Parquet + PyArrow + DuckDB</a:t>
            </a:r>
          </a:p>
          <a:p>
            <a:pPr>
              <a:spcBef>
                <a:spcPts val="800"/>
              </a:spcBef>
              <a:defRPr sz="1250">
                <a:solidFill>
                  <a:srgbClr val="94A3B8"/>
                </a:solidFill>
                <a:latin typeface="Calibri"/>
              </a:defRPr>
            </a:pPr>
            <a:r>
              <a:t>Sub-millisecond columnar partition scans for all 26 equities (data/processed/*.parquet), bypassing slow SQL connection latency during real-time inference.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577840"/>
            <a:ext cx="6492240" cy="256032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715000"/>
            <a:ext cx="6126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VECTORIZED MARKET DYNAMICS PIPELINE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  <a:latin typeface="Calibri"/>
              </a:defRPr>
            </a:pPr>
            <a:r>
              <a:t>• Parkinson Volatility: High-Low dispersion (5x more efficient than close-to-close)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  <a:latin typeface="Calibri"/>
              </a:defRPr>
            </a:pPr>
            <a:r>
              <a:t>• Momentum &amp; Trend: Wilder RSI(14), MACD Histogram, 20/50 SMA Golden Cross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  <a:latin typeface="Calibri"/>
              </a:defRPr>
            </a:pPr>
            <a:r>
              <a:t>• Systematic Beta: ASPI 30-Day relative alpha spread &amp; rolling Pearson correlation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41248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Consolas"/>
              </a:defRPr>
            </a:pPr>
            <a:r>
              <a:t>TECH STACK:  </a:t>
            </a:r>
            <a:r>
              <a:rPr sz="950" b="1">
                <a:solidFill>
                  <a:srgbClr val="38BDF8"/>
                </a:solidFill>
                <a:latin typeface="Consolas"/>
              </a:rPr>
              <a:t> [Apache Parquet] </a:t>
            </a:r>
            <a:r>
              <a:rPr sz="950" b="1">
                <a:solidFill>
                  <a:srgbClr val="38BDF8"/>
                </a:solidFill>
                <a:latin typeface="Consolas"/>
              </a:rPr>
              <a:t> [PyArrow] </a:t>
            </a:r>
            <a:r>
              <a:rPr sz="950" b="1">
                <a:solidFill>
                  <a:srgbClr val="38BDF8"/>
                </a:solidFill>
                <a:latin typeface="Consolas"/>
              </a:rPr>
              <a:t> [DuckDB] </a:t>
            </a:r>
            <a:r>
              <a:rPr sz="950" b="1">
                <a:solidFill>
                  <a:srgbClr val="38BDF8"/>
                </a:solidFill>
                <a:latin typeface="Consolas"/>
              </a:rPr>
              <a:t> [Vectorized Math] </a:t>
            </a:r>
            <a:r>
              <a:rPr sz="950" b="1">
                <a:solidFill>
                  <a:srgbClr val="38BDF8"/>
                </a:solidFill>
                <a:latin typeface="Consolas"/>
              </a:rPr>
              <a:t> [ETL Pipelines]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900684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onsolas"/>
              </a:defRPr>
            </a:pPr>
            <a:r>
              <a:t>AI / ML SYSTEM ENGINEERING</a:t>
            </a:r>
            <a:r>
              <a:rPr b="1">
                <a:solidFill>
                  <a:srgbClr val="38BDF8"/>
                </a:solidFill>
              </a:rPr>
              <a:t>   |   Swipe &gt;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97155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6492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[ 03 / MLOPS &amp; ALGORITHMIC RIGOR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F8FAFC"/>
                </a:solidFill>
                <a:latin typeface="Trebuchet MS"/>
              </a:defRPr>
            </a:pPr>
            <a:r>
              <a:t>Purged Cross-Validation &amp; Quantile 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6492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94A3B8"/>
                </a:solidFill>
                <a:latin typeface="Calibri"/>
              </a:defRPr>
            </a:pPr>
            <a:r>
              <a:t>Preventing overlapping target contamination with purged embargo gaps while optimizing asymmetric Pinball Loss.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6492240" cy="228600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6126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CUSTOM PURGED &amp; EMBARGOED WALK-FORWARD CV</a:t>
            </a:r>
          </a:p>
          <a:p>
            <a:pPr>
              <a:spcBef>
                <a:spcPts val="800"/>
              </a:spcBef>
              <a:defRPr sz="1250">
                <a:solidFill>
                  <a:srgbClr val="F8FAFC"/>
                </a:solidFill>
                <a:latin typeface="Calibri"/>
              </a:defRPr>
            </a:pPr>
            <a:r>
              <a:t>Standard K-Fold leaks future 30-day returns. I built an expanding 5-fold CV engine with a 30-day purge gap (drops overlapping train labels) and a 30-day embargo buffer (kills serial correlation).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486400"/>
            <a:ext cx="6492240" cy="2651760"/>
          </a:xfrm>
          <a:prstGeom prst="rect">
            <a:avLst/>
          </a:prstGeom>
          <a:solidFill>
            <a:srgbClr val="11172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6126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Consolas"/>
              </a:defRPr>
            </a:pPr>
            <a:r>
              <a:t>MULTI-QUANTILE LIGHTGBM (PINBALL LOSS)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  <a:latin typeface="Calibri"/>
              </a:defRPr>
            </a:pPr>
            <a:r>
              <a:t>• P10 Floor (q=0.10): Downside Value-at-Risk floor (9x penalty on drawdown misses)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  <a:latin typeface="Calibri"/>
              </a:defRPr>
            </a:pPr>
            <a:r>
              <a:t>• P50 Median (q=0.50): Robust median expected trajectory (MAE optimization)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  <a:latin typeface="Calibri"/>
              </a:defRPr>
            </a:pPr>
            <a:r>
              <a:t>• P90 Ceiling (q=0.90): Bullish expansion envelope (90th percentile resistance)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41248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Consolas"/>
              </a:defRPr>
            </a:pPr>
            <a:r>
              <a:t>TECH STACK:  </a:t>
            </a:r>
            <a:r>
              <a:rPr sz="950" b="1">
                <a:solidFill>
                  <a:srgbClr val="38BDF8"/>
                </a:solidFill>
                <a:latin typeface="Consolas"/>
              </a:rPr>
              <a:t> [LightGBM] </a:t>
            </a:r>
            <a:r>
              <a:rPr sz="950" b="1">
                <a:solidFill>
                  <a:srgbClr val="38BDF8"/>
                </a:solidFill>
                <a:latin typeface="Consolas"/>
              </a:rPr>
              <a:t> [Quantile Regression] </a:t>
            </a:r>
            <a:r>
              <a:rPr sz="950" b="1">
                <a:solidFill>
                  <a:srgbClr val="38BDF8"/>
                </a:solidFill>
                <a:latin typeface="Consolas"/>
              </a:rPr>
              <a:t> [Pinball Loss] </a:t>
            </a:r>
            <a:r>
              <a:rPr sz="950" b="1">
                <a:solidFill>
                  <a:srgbClr val="38BDF8"/>
                </a:solidFill>
                <a:latin typeface="Consolas"/>
              </a:rPr>
              <a:t> [Purged &amp; Embargoed CV] </a:t>
            </a:r>
            <a:r>
              <a:rPr sz="950" b="1">
                <a:solidFill>
                  <a:srgbClr val="38BDF8"/>
                </a:solidFill>
                <a:latin typeface="Consolas"/>
              </a:rPr>
              <a:t> [Scikit-Learn]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900684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onsolas"/>
              </a:defRPr>
            </a:pPr>
            <a:r>
              <a:t>AI / ML SYSTEM ENGINEERING</a:t>
            </a:r>
            <a:r>
              <a:rPr b="1">
                <a:solidFill>
                  <a:srgbClr val="38BDF8"/>
                </a:solidFill>
              </a:rPr>
              <a:t>   |   Swipe 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97155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6492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[ 04 / EXPLAINABLE AI &amp; INTERPRETABILITY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F8FAFC"/>
                </a:solidFill>
                <a:latin typeface="Trebuchet MS"/>
              </a:defRPr>
            </a:pPr>
            <a:r>
              <a:t>Dual-Layer Transparent XAI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6492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94A3B8"/>
                </a:solidFill>
                <a:latin typeface="Calibri"/>
              </a:defRPr>
            </a:pPr>
            <a:r>
              <a:t>Bridging mathematically verified Shapley attribution with domain-driven heuristic validation rules.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6492240" cy="2377440"/>
          </a:xfrm>
          <a:prstGeom prst="rect">
            <a:avLst/>
          </a:prstGeom>
          <a:solidFill>
            <a:srgbClr val="111722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6126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Consolas"/>
              </a:defRPr>
            </a:pPr>
            <a:r>
              <a:t>LAYER 1: EXACT TREESHAP ATTRIBUTION</a:t>
            </a:r>
          </a:p>
          <a:p>
            <a:pPr>
              <a:spcBef>
                <a:spcPts val="600"/>
              </a:spcBef>
              <a:defRPr sz="1600" b="1">
                <a:solidFill>
                  <a:srgbClr val="F8FAFC"/>
                </a:solidFill>
                <a:latin typeface="Trebuchet MS"/>
              </a:defRPr>
            </a:pPr>
            <a:r>
              <a:t>y_hat = phi_0 + sum( phi_i )   [Exact Additive Decomp]</a:t>
            </a:r>
          </a:p>
          <a:p>
            <a:pPr>
              <a:spcBef>
                <a:spcPts val="800"/>
              </a:spcBef>
              <a:defRPr sz="1250">
                <a:solidFill>
                  <a:srgbClr val="94A3B8"/>
                </a:solidFill>
                <a:latin typeface="Calibri"/>
              </a:defRPr>
            </a:pPr>
            <a:r>
              <a:t>Calculates exact game-theoretic Shapley values directly across tree ensemble paths, decomposing predicted returns into basis-point impacts with 100% additivity verification in pytest.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577840"/>
            <a:ext cx="6492240" cy="256032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715000"/>
            <a:ext cx="6126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LAYER 2: DOMAIN HEURISTIC VALIDATION ENGINE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  <a:latin typeface="Calibri"/>
              </a:defRPr>
            </a:pPr>
            <a:r>
              <a:t>• SUPPORTING: Setup confirms forecast (e.g. RSI momentum &lt;70 without exhaustion)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  <a:latin typeface="Calibri"/>
              </a:defRPr>
            </a:pPr>
            <a:r>
              <a:t>• REJECTING / RISK: Warns of counter-trend risk (e.g. elevated Parkinson volatility)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  <a:latin typeface="Calibri"/>
              </a:defRPr>
            </a:pPr>
            <a:r>
              <a:t>• NEUTRAL: Stable baseline alignment (e.g. volume consolidation)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41248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Consolas"/>
              </a:defRPr>
            </a:pPr>
            <a:r>
              <a:t>TECH STACK:  </a:t>
            </a:r>
            <a:r>
              <a:rPr sz="950" b="1">
                <a:solidFill>
                  <a:srgbClr val="38BDF8"/>
                </a:solidFill>
                <a:latin typeface="Consolas"/>
              </a:rPr>
              <a:t> [TreeSHAP] </a:t>
            </a:r>
            <a:r>
              <a:rPr sz="950" b="1">
                <a:solidFill>
                  <a:srgbClr val="38BDF8"/>
                </a:solidFill>
                <a:latin typeface="Consolas"/>
              </a:rPr>
              <a:t> [Local Feature Attribution] </a:t>
            </a:r>
            <a:r>
              <a:rPr sz="950" b="1">
                <a:solidFill>
                  <a:srgbClr val="38BDF8"/>
                </a:solidFill>
                <a:latin typeface="Consolas"/>
              </a:rPr>
              <a:t> [Rule Engines] </a:t>
            </a:r>
            <a:r>
              <a:rPr sz="950" b="1">
                <a:solidFill>
                  <a:srgbClr val="38BDF8"/>
                </a:solidFill>
                <a:latin typeface="Consolas"/>
              </a:rPr>
              <a:t> [XAI Pytest Additivity]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900684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onsolas"/>
              </a:defRPr>
            </a:pPr>
            <a:r>
              <a:t>AI / ML SYSTEM ENGINEERING</a:t>
            </a:r>
            <a:r>
              <a:rPr b="1">
                <a:solidFill>
                  <a:srgbClr val="38BDF8"/>
                </a:solidFill>
              </a:rPr>
              <a:t>   |   Swipe 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97155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6492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[ 05 / FULL-STACK CLOUD ARCHITECTURE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F8FAFC"/>
                </a:solidFill>
                <a:latin typeface="Trebuchet MS"/>
              </a:defRPr>
            </a:pPr>
            <a:r>
              <a:t>Production Serving &amp; Empirical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6492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94A3B8"/>
                </a:solidFill>
                <a:latin typeface="Calibri"/>
              </a:defRPr>
            </a:pPr>
            <a:r>
              <a:t>Production-grade full-stack financial terminal deployed on a zero-cost automated cloud topology.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2011680" cy="182880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1828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Trebuchet MS"/>
              </a:defRPr>
            </a:pPr>
            <a:r>
              <a:t>58.3%</a:t>
            </a:r>
          </a:p>
          <a:p>
            <a:pPr algn="ctr">
              <a:spcBef>
                <a:spcPts val="400"/>
              </a:spcBef>
              <a:defRPr sz="900" b="1">
                <a:solidFill>
                  <a:srgbClr val="F8FAFC"/>
                </a:solidFill>
                <a:latin typeface="Consolas"/>
              </a:defRPr>
            </a:pPr>
            <a:r>
              <a:t>DIRECTION ACCURACY</a:t>
            </a:r>
          </a:p>
          <a:p>
            <a:pPr algn="ctr">
              <a:spcBef>
                <a:spcPts val="4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+8.3% over Random Walk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3017520"/>
            <a:ext cx="2011680" cy="1828800"/>
          </a:xfrm>
          <a:prstGeom prst="rect">
            <a:avLst/>
          </a:prstGeom>
          <a:solidFill>
            <a:srgbClr val="11172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154680"/>
            <a:ext cx="1828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  <a:latin typeface="Trebuchet MS"/>
              </a:defRPr>
            </a:pPr>
            <a:r>
              <a:t>79.4%</a:t>
            </a:r>
          </a:p>
          <a:p>
            <a:pPr algn="ctr">
              <a:spcBef>
                <a:spcPts val="400"/>
              </a:spcBef>
              <a:defRPr sz="900" b="1">
                <a:solidFill>
                  <a:srgbClr val="F8FAFC"/>
                </a:solidFill>
                <a:latin typeface="Consolas"/>
              </a:defRPr>
            </a:pPr>
            <a:r>
              <a:t>EMPIRICAL COVERAGE</a:t>
            </a:r>
          </a:p>
          <a:p>
            <a:pPr algn="ctr">
              <a:spcBef>
                <a:spcPts val="4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Inside P10-P90 Envelope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3017520"/>
            <a:ext cx="2011680" cy="1828800"/>
          </a:xfrm>
          <a:prstGeom prst="rect">
            <a:avLst/>
          </a:prstGeom>
          <a:solidFill>
            <a:srgbClr val="111722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3154680"/>
            <a:ext cx="1828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084FC"/>
                </a:solidFill>
                <a:latin typeface="Trebuchet MS"/>
              </a:defRPr>
            </a:pPr>
            <a:r>
              <a:t>26+1</a:t>
            </a:r>
          </a:p>
          <a:p>
            <a:pPr algn="ctr">
              <a:spcBef>
                <a:spcPts val="400"/>
              </a:spcBef>
              <a:defRPr sz="900" b="1">
                <a:solidFill>
                  <a:srgbClr val="F8FAFC"/>
                </a:solidFill>
                <a:latin typeface="Consolas"/>
              </a:defRPr>
            </a:pPr>
            <a:r>
              <a:t>EQUITIES + ASPI</a:t>
            </a:r>
          </a:p>
          <a:p>
            <a:pPr algn="ctr">
              <a:spcBef>
                <a:spcPts val="4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Automated Daily Sync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029200"/>
            <a:ext cx="6492240" cy="310896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66360"/>
            <a:ext cx="61264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PRODUCTION CLOUD SERVING STACK</a:t>
            </a:r>
          </a:p>
          <a:p>
            <a:pPr>
              <a:spcBef>
                <a:spcPts val="600"/>
              </a:spcBef>
              <a:defRPr sz="1150">
                <a:solidFill>
                  <a:srgbClr val="F8FAFC"/>
                </a:solidFill>
                <a:latin typeface="Calibri"/>
              </a:defRPr>
            </a:pPr>
            <a:r>
              <a:t>• Frontend Terminal: React 19 + TypeScript + TradingView Lightweight Charts on Vercel CDN</a:t>
            </a:r>
          </a:p>
          <a:p>
            <a:pPr>
              <a:spcBef>
                <a:spcPts val="600"/>
              </a:spcBef>
              <a:defRPr sz="1150">
                <a:solidFill>
                  <a:srgbClr val="F8FAFC"/>
                </a:solidFill>
                <a:latin typeface="Calibri"/>
              </a:defRPr>
            </a:pPr>
            <a:r>
              <a:t>• Serving REST API: FastAPI in Docker container with OpenMP multiprocessing on Render</a:t>
            </a:r>
          </a:p>
          <a:p>
            <a:pPr>
              <a:spcBef>
                <a:spcPts val="600"/>
              </a:spcBef>
              <a:defRPr sz="1150">
                <a:solidFill>
                  <a:srgbClr val="F8FAFC"/>
                </a:solidFill>
                <a:latin typeface="Calibri"/>
              </a:defRPr>
            </a:pPr>
            <a:r>
              <a:t>• Cloud Database: PostgreSQL 15 on Supabase (Composite PK idempotent daily upserts)</a:t>
            </a:r>
          </a:p>
          <a:p>
            <a:pPr>
              <a:spcBef>
                <a:spcPts val="600"/>
              </a:spcBef>
              <a:defRPr sz="1150">
                <a:solidFill>
                  <a:srgbClr val="F8FAFC"/>
                </a:solidFill>
                <a:latin typeface="Calibri"/>
              </a:defRPr>
            </a:pPr>
            <a:r>
              <a:t>• MLOps Automation: GitHub Actions daily cron (15:00 SLST) + 29-test Pytest CI suite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841248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Consolas"/>
              </a:defRPr>
            </a:pPr>
            <a:r>
              <a:t>TECH STACK:  </a:t>
            </a:r>
            <a:r>
              <a:rPr sz="950" b="1">
                <a:solidFill>
                  <a:srgbClr val="38BDF8"/>
                </a:solidFill>
                <a:latin typeface="Consolas"/>
              </a:rPr>
              <a:t> [FastAPI] </a:t>
            </a:r>
            <a:r>
              <a:rPr sz="950" b="1">
                <a:solidFill>
                  <a:srgbClr val="38BDF8"/>
                </a:solidFill>
                <a:latin typeface="Consolas"/>
              </a:rPr>
              <a:t> [Docker] </a:t>
            </a:r>
            <a:r>
              <a:rPr sz="950" b="1">
                <a:solidFill>
                  <a:srgbClr val="38BDF8"/>
                </a:solidFill>
                <a:latin typeface="Consolas"/>
              </a:rPr>
              <a:t> [PostgreSQL / Supabase] </a:t>
            </a:r>
            <a:r>
              <a:rPr sz="950" b="1">
                <a:solidFill>
                  <a:srgbClr val="38BDF8"/>
                </a:solidFill>
                <a:latin typeface="Consolas"/>
              </a:rPr>
              <a:t> [React 19 + TypeScript] </a:t>
            </a:r>
            <a:r>
              <a:rPr sz="950" b="1">
                <a:solidFill>
                  <a:srgbClr val="38BDF8"/>
                </a:solidFill>
                <a:latin typeface="Consolas"/>
              </a:rPr>
              <a:t> [GitHub Actions]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900684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onsolas"/>
              </a:defRPr>
            </a:pPr>
            <a:r>
              <a:t>AI / ML SYSTEM ENGINEERING</a:t>
            </a:r>
            <a:r>
              <a:rPr b="1">
                <a:solidFill>
                  <a:srgbClr val="38BDF8"/>
                </a:solidFill>
              </a:rPr>
              <a:t>   |   [05 / 05]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