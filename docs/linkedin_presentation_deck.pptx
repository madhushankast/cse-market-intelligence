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square">
            <a:spAutoFit/>
          </a:bodyPr>
          <a:lstStyle/>
          <a:p>
            <a:pPr>
              <a:defRPr sz="1100" b="1">
                <a:solidFill>
                  <a:srgbClr val="38BDF8"/>
                </a:solidFill>
                <a:latin typeface="Consolas"/>
              </a:defRPr>
            </a:pPr>
            <a:r>
              <a:t>[ MLOPS &amp; QUANTITATIVE FINANCE CASE STUDY ]</a:t>
            </a:r>
          </a:p>
        </p:txBody>
      </p:sp>
      <p:sp>
        <p:nvSpPr>
          <p:cNvPr id="4" name="TextBox 3"/>
          <p:cNvSpPr txBox="1"/>
          <p:nvPr/>
        </p:nvSpPr>
        <p:spPr>
          <a:xfrm>
            <a:off x="731520" y="685800"/>
            <a:ext cx="10698480" cy="640080"/>
          </a:xfrm>
          <a:prstGeom prst="rect">
            <a:avLst/>
          </a:prstGeom>
          <a:noFill/>
        </p:spPr>
        <p:txBody>
          <a:bodyPr wrap="square">
            <a:spAutoFit/>
          </a:bodyPr>
          <a:lstStyle/>
          <a:p>
            <a:pPr>
              <a:defRPr sz="2600" b="1">
                <a:solidFill>
                  <a:srgbClr val="F8FAFC"/>
                </a:solidFill>
                <a:latin typeface="Trebuchet MS"/>
              </a:defRPr>
            </a:pPr>
            <a:r>
              <a:t>Why 90% of Stock Price Predictors Fail in Production</a:t>
            </a:r>
          </a:p>
        </p:txBody>
      </p:sp>
      <p:sp>
        <p:nvSpPr>
          <p:cNvPr id="5" name="TextBox 4"/>
          <p:cNvSpPr txBox="1"/>
          <p:nvPr/>
        </p:nvSpPr>
        <p:spPr>
          <a:xfrm>
            <a:off x="731520" y="1280160"/>
            <a:ext cx="10698480" cy="411480"/>
          </a:xfrm>
          <a:prstGeom prst="rect">
            <a:avLst/>
          </a:prstGeom>
          <a:noFill/>
        </p:spPr>
        <p:txBody>
          <a:bodyPr wrap="square">
            <a:spAutoFit/>
          </a:bodyPr>
          <a:lstStyle/>
          <a:p>
            <a:pPr>
              <a:defRPr sz="1300">
                <a:solidFill>
                  <a:srgbClr val="94A3B8"/>
                </a:solidFill>
                <a:latin typeface="Calibri"/>
              </a:defRPr>
            </a:pPr>
            <a:r>
              <a:t>Engineering calibrated multi-quantile uncertainty boundaries vs. predicting non-stationary nominal price points.</a:t>
            </a:r>
          </a:p>
        </p:txBody>
      </p:sp>
      <p:sp>
        <p:nvSpPr>
          <p:cNvPr id="6" name="Rectangle 5"/>
          <p:cNvSpPr/>
          <p:nvPr/>
        </p:nvSpPr>
        <p:spPr>
          <a:xfrm>
            <a:off x="731520" y="1828800"/>
            <a:ext cx="5212080" cy="3291840"/>
          </a:xfrm>
          <a:prstGeom prst="rect">
            <a:avLst/>
          </a:prstGeom>
          <a:solidFill>
            <a:srgbClr val="121824"/>
          </a:solidFill>
          <a:ln w="1905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65960"/>
            <a:ext cx="4846320" cy="3017520"/>
          </a:xfrm>
          <a:prstGeom prst="rect">
            <a:avLst/>
          </a:prstGeom>
          <a:noFill/>
        </p:spPr>
        <p:txBody>
          <a:bodyPr wrap="square">
            <a:spAutoFit/>
          </a:bodyPr>
          <a:lstStyle/>
          <a:p>
            <a:pPr>
              <a:defRPr sz="1100" b="1">
                <a:solidFill>
                  <a:srgbClr val="F87171"/>
                </a:solidFill>
                <a:latin typeface="Consolas"/>
              </a:defRPr>
            </a:pPr>
            <a:r>
              <a:t>[ THE ANTI-PATTERN: NOMINAL PRICE REGRESSION ]</a:t>
            </a:r>
          </a:p>
          <a:p>
            <a:pPr>
              <a:spcBef>
                <a:spcPts val="800"/>
              </a:spcBef>
              <a:defRPr sz="1100">
                <a:solidFill>
                  <a:srgbClr val="F8FAFC"/>
                </a:solidFill>
                <a:latin typeface="Consolas"/>
              </a:defRPr>
            </a:pPr>
            <a:r>
              <a:t>P_hat(t+30) = f(P_t, P_{t-1}, ...)  --&gt;  Learns Identity: P_hat(t+30) ~= P_t</a:t>
            </a:r>
          </a:p>
          <a:p>
            <a:pPr>
              <a:spcBef>
                <a:spcPts val="1000"/>
              </a:spcBef>
              <a:defRPr sz="1200">
                <a:solidFill>
                  <a:srgbClr val="94A3B8"/>
                </a:solidFill>
                <a:latin typeface="Calibri"/>
              </a:defRPr>
            </a:pPr>
            <a:r>
              <a:t>Asset prices are non-stationary I(1) unit-root series. Unconstrained MSE minimization heavily penalizes deviations from recent price levels, coercing gradient boosters to output a delayed 30-day lag. Despite synthetic R^2 &gt; 0.98, the model yields zero economic alpha.</a:t>
            </a:r>
          </a:p>
        </p:txBody>
      </p:sp>
      <p:sp>
        <p:nvSpPr>
          <p:cNvPr id="8" name="Rectangle 7"/>
          <p:cNvSpPr/>
          <p:nvPr/>
        </p:nvSpPr>
        <p:spPr>
          <a:xfrm>
            <a:off x="6217920" y="1828800"/>
            <a:ext cx="5212080" cy="3291840"/>
          </a:xfrm>
          <a:prstGeom prst="rect">
            <a:avLst/>
          </a:prstGeom>
          <a:solidFill>
            <a:srgbClr val="121824"/>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965960"/>
            <a:ext cx="4846320" cy="3017520"/>
          </a:xfrm>
          <a:prstGeom prst="rect">
            <a:avLst/>
          </a:prstGeom>
          <a:noFill/>
        </p:spPr>
        <p:txBody>
          <a:bodyPr wrap="square">
            <a:spAutoFit/>
          </a:bodyPr>
          <a:lstStyle/>
          <a:p>
            <a:pPr>
              <a:defRPr sz="1100" b="1">
                <a:solidFill>
                  <a:srgbClr val="34D399"/>
                </a:solidFill>
                <a:latin typeface="Consolas"/>
              </a:defRPr>
            </a:pPr>
            <a:r>
              <a:t>[ THE MATHEMATICAL PIVOT: FORWARD LOG RETURN ]</a:t>
            </a:r>
          </a:p>
          <a:p>
            <a:pPr>
              <a:spcBef>
                <a:spcPts val="800"/>
              </a:spcBef>
              <a:defRPr sz="1100">
                <a:solidFill>
                  <a:srgbClr val="F8FAFC"/>
                </a:solidFill>
                <a:latin typeface="Consolas"/>
              </a:defRPr>
            </a:pPr>
            <a:r>
              <a:t>y_t = ln( P_{t+30} / P_t )  [30-Trading-Day Cumulative Log Return]</a:t>
            </a:r>
          </a:p>
          <a:p>
            <a:pPr>
              <a:spcBef>
                <a:spcPts val="1000"/>
              </a:spcBef>
              <a:defRPr sz="1200">
                <a:solidFill>
                  <a:srgbClr val="94A3B8"/>
                </a:solidFill>
                <a:latin typeface="Calibri"/>
              </a:defRPr>
            </a:pPr>
            <a:r>
              <a:t>Transforming targets into cumulative forward log returns enforces covariance stationarity and scale invariance. Evaluated across 26 Colombo Stock Exchange (CSE) liquid equities and the ASPI market benchmark, models learn real momentum and mean-reversion dynamics.</a:t>
            </a:r>
          </a:p>
        </p:txBody>
      </p:sp>
      <p:sp>
        <p:nvSpPr>
          <p:cNvPr id="10" name="Rectangle 9"/>
          <p:cNvSpPr/>
          <p:nvPr/>
        </p:nvSpPr>
        <p:spPr>
          <a:xfrm>
            <a:off x="731520" y="5303520"/>
            <a:ext cx="3383280" cy="777240"/>
          </a:xfrm>
          <a:prstGeom prst="rect">
            <a:avLst/>
          </a:prstGeom>
          <a:solidFill>
            <a:srgbClr val="121824"/>
          </a:solidFill>
          <a:ln w="19050">
            <a:solidFill>
              <a:srgbClr val="222D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349240"/>
            <a:ext cx="3017520" cy="685800"/>
          </a:xfrm>
          <a:prstGeom prst="rect">
            <a:avLst/>
          </a:prstGeom>
          <a:noFill/>
        </p:spPr>
        <p:txBody>
          <a:bodyPr wrap="none">
            <a:spAutoFit/>
          </a:bodyPr>
          <a:lstStyle/>
          <a:p>
            <a:pPr>
              <a:defRPr sz="900">
                <a:solidFill>
                  <a:srgbClr val="64748B"/>
                </a:solidFill>
                <a:latin typeface="Consolas"/>
              </a:defRPr>
            </a:pPr>
            <a:r>
              <a:t>UNIVERSE SCOPE</a:t>
            </a:r>
          </a:p>
          <a:p>
            <a:pPr>
              <a:defRPr sz="1300" b="1">
                <a:solidFill>
                  <a:srgbClr val="F8FAFC"/>
                </a:solidFill>
                <a:latin typeface="Consolas"/>
              </a:defRPr>
            </a:pPr>
            <a:r>
              <a:t>26 Equities + ASPI</a:t>
            </a:r>
          </a:p>
        </p:txBody>
      </p:sp>
      <p:sp>
        <p:nvSpPr>
          <p:cNvPr id="12" name="Rectangle 11"/>
          <p:cNvSpPr/>
          <p:nvPr/>
        </p:nvSpPr>
        <p:spPr>
          <a:xfrm>
            <a:off x="4389120" y="5303520"/>
            <a:ext cx="3383280" cy="777240"/>
          </a:xfrm>
          <a:prstGeom prst="rect">
            <a:avLst/>
          </a:prstGeom>
          <a:solidFill>
            <a:srgbClr val="121824"/>
          </a:solidFill>
          <a:ln w="19050">
            <a:solidFill>
              <a:srgbClr val="222D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5349240"/>
            <a:ext cx="3017520" cy="685800"/>
          </a:xfrm>
          <a:prstGeom prst="rect">
            <a:avLst/>
          </a:prstGeom>
          <a:noFill/>
        </p:spPr>
        <p:txBody>
          <a:bodyPr wrap="none">
            <a:spAutoFit/>
          </a:bodyPr>
          <a:lstStyle/>
          <a:p>
            <a:pPr>
              <a:defRPr sz="900">
                <a:solidFill>
                  <a:srgbClr val="64748B"/>
                </a:solidFill>
                <a:latin typeface="Consolas"/>
              </a:defRPr>
            </a:pPr>
            <a:r>
              <a:t>FORECAST HORIZON</a:t>
            </a:r>
          </a:p>
          <a:p>
            <a:pPr>
              <a:defRPr sz="1300" b="1">
                <a:solidFill>
                  <a:srgbClr val="38BDF8"/>
                </a:solidFill>
                <a:latin typeface="Consolas"/>
              </a:defRPr>
            </a:pPr>
            <a:r>
              <a:t>30 Trading Days</a:t>
            </a:r>
          </a:p>
        </p:txBody>
      </p:sp>
      <p:sp>
        <p:nvSpPr>
          <p:cNvPr id="14" name="Rectangle 13"/>
          <p:cNvSpPr/>
          <p:nvPr/>
        </p:nvSpPr>
        <p:spPr>
          <a:xfrm>
            <a:off x="8046720" y="5303520"/>
            <a:ext cx="3383280" cy="777240"/>
          </a:xfrm>
          <a:prstGeom prst="rect">
            <a:avLst/>
          </a:prstGeom>
          <a:solidFill>
            <a:srgbClr val="121824"/>
          </a:solidFill>
          <a:ln w="19050">
            <a:solidFill>
              <a:srgbClr val="222D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0" y="5349240"/>
            <a:ext cx="3017520" cy="685800"/>
          </a:xfrm>
          <a:prstGeom prst="rect">
            <a:avLst/>
          </a:prstGeom>
          <a:noFill/>
        </p:spPr>
        <p:txBody>
          <a:bodyPr wrap="none">
            <a:spAutoFit/>
          </a:bodyPr>
          <a:lstStyle/>
          <a:p>
            <a:pPr>
              <a:defRPr sz="900">
                <a:solidFill>
                  <a:srgbClr val="64748B"/>
                </a:solidFill>
                <a:latin typeface="Consolas"/>
              </a:defRPr>
            </a:pPr>
            <a:r>
              <a:t>OPTIMIZATION</a:t>
            </a:r>
          </a:p>
          <a:p>
            <a:pPr>
              <a:defRPr sz="1300" b="1">
                <a:solidFill>
                  <a:srgbClr val="34D399"/>
                </a:solidFill>
                <a:latin typeface="Consolas"/>
              </a:defRPr>
            </a:pPr>
            <a:r>
              <a:t>Pinball Quantiles [P10, P50, P90]</a:t>
            </a:r>
          </a:p>
        </p:txBody>
      </p:sp>
      <p:sp>
        <p:nvSpPr>
          <p:cNvPr id="16" name="TextBox 15"/>
          <p:cNvSpPr txBox="1"/>
          <p:nvPr/>
        </p:nvSpPr>
        <p:spPr>
          <a:xfrm>
            <a:off x="731520" y="6263640"/>
            <a:ext cx="10698480" cy="365760"/>
          </a:xfrm>
          <a:prstGeom prst="rect">
            <a:avLst/>
          </a:prstGeom>
          <a:noFill/>
        </p:spPr>
        <p:txBody>
          <a:bodyPr wrap="none">
            <a:spAutoFit/>
          </a:bodyPr>
          <a:lstStyle/>
          <a:p>
            <a:pPr>
              <a:defRPr sz="1000">
                <a:solidFill>
                  <a:srgbClr val="64748B"/>
                </a:solidFill>
                <a:latin typeface="Consolas"/>
              </a:defRPr>
            </a:pPr>
            <a:r>
              <a:t>COLOMBO STOCK EXCHANGE QUANTITATIVE INTELLIGENCE</a:t>
            </a:r>
            <a:r>
              <a:rPr b="1">
                <a:solidFill>
                  <a:srgbClr val="38BDF8"/>
                </a:solidFill>
              </a:rPr>
              <a:t>   |   [01 / 05]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square">
            <a:spAutoFit/>
          </a:bodyPr>
          <a:lstStyle/>
          <a:p>
            <a:pPr>
              <a:defRPr sz="1100" b="1">
                <a:solidFill>
                  <a:srgbClr val="38BDF8"/>
                </a:solidFill>
                <a:latin typeface="Consolas"/>
              </a:defRPr>
            </a:pPr>
            <a:r>
              <a:t>[ SYSTEM ARCHITECTURE ]</a:t>
            </a:r>
          </a:p>
        </p:txBody>
      </p:sp>
      <p:sp>
        <p:nvSpPr>
          <p:cNvPr id="4" name="TextBox 3"/>
          <p:cNvSpPr txBox="1"/>
          <p:nvPr/>
        </p:nvSpPr>
        <p:spPr>
          <a:xfrm>
            <a:off x="731520" y="685800"/>
            <a:ext cx="10698480" cy="640080"/>
          </a:xfrm>
          <a:prstGeom prst="rect">
            <a:avLst/>
          </a:prstGeom>
          <a:noFill/>
        </p:spPr>
        <p:txBody>
          <a:bodyPr wrap="square">
            <a:spAutoFit/>
          </a:bodyPr>
          <a:lstStyle/>
          <a:p>
            <a:pPr>
              <a:defRPr sz="2600" b="1">
                <a:solidFill>
                  <a:srgbClr val="F8FAFC"/>
                </a:solidFill>
                <a:latin typeface="Trebuchet MS"/>
              </a:defRPr>
            </a:pPr>
            <a:r>
              <a:t>End-to-End MLOps Pipeline</a:t>
            </a:r>
          </a:p>
        </p:txBody>
      </p:sp>
      <p:sp>
        <p:nvSpPr>
          <p:cNvPr id="5" name="TextBox 4"/>
          <p:cNvSpPr txBox="1"/>
          <p:nvPr/>
        </p:nvSpPr>
        <p:spPr>
          <a:xfrm>
            <a:off x="731520" y="1280160"/>
            <a:ext cx="10698480" cy="411480"/>
          </a:xfrm>
          <a:prstGeom prst="rect">
            <a:avLst/>
          </a:prstGeom>
          <a:noFill/>
        </p:spPr>
        <p:txBody>
          <a:bodyPr wrap="square">
            <a:spAutoFit/>
          </a:bodyPr>
          <a:lstStyle/>
          <a:p>
            <a:pPr>
              <a:defRPr sz="1300">
                <a:solidFill>
                  <a:srgbClr val="94A3B8"/>
                </a:solidFill>
                <a:latin typeface="Calibri"/>
              </a:defRPr>
            </a:pPr>
            <a:r>
              <a:t>A decoupled, zero-leakage workflow from raw exchange endpoints to an interactive trading cockpit.</a:t>
            </a:r>
          </a:p>
        </p:txBody>
      </p:sp>
      <p:sp>
        <p:nvSpPr>
          <p:cNvPr id="6" name="Rectangle 5"/>
          <p:cNvSpPr/>
          <p:nvPr/>
        </p:nvSpPr>
        <p:spPr>
          <a:xfrm>
            <a:off x="731520" y="1828800"/>
            <a:ext cx="10698480" cy="914400"/>
          </a:xfrm>
          <a:prstGeom prst="rect">
            <a:avLst/>
          </a:prstGeom>
          <a:solidFill>
            <a:srgbClr val="121824"/>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01952"/>
            <a:ext cx="10332720" cy="777240"/>
          </a:xfrm>
          <a:prstGeom prst="rect">
            <a:avLst/>
          </a:prstGeom>
          <a:noFill/>
        </p:spPr>
        <p:txBody>
          <a:bodyPr wrap="square">
            <a:spAutoFit/>
          </a:bodyPr>
          <a:lstStyle/>
          <a:p>
            <a:pPr>
              <a:defRPr sz="1100" b="1">
                <a:solidFill>
                  <a:srgbClr val="38BDF8"/>
                </a:solidFill>
                <a:latin typeface="Consolas"/>
              </a:defRPr>
            </a:pPr>
            <a:r>
              <a:t>[STAGE 01]  </a:t>
            </a:r>
            <a:r>
              <a:rPr sz="1300" b="1">
                <a:solidFill>
                  <a:srgbClr val="F8FAFC"/>
                </a:solidFill>
                <a:latin typeface="Trebuchet MS"/>
              </a:rPr>
              <a:t>CSE API Ingestion &amp; Lakehouse   </a:t>
            </a:r>
            <a:r>
              <a:rPr sz="1000">
                <a:solidFill>
                  <a:srgbClr val="94A3B8"/>
                </a:solidFill>
                <a:latin typeface="Consolas"/>
              </a:rPr>
              <a:t>[data/processed/*.parquet]</a:t>
            </a:r>
          </a:p>
          <a:p>
            <a:pPr>
              <a:spcBef>
                <a:spcPts val="300"/>
              </a:spcBef>
              <a:defRPr sz="1100">
                <a:solidFill>
                  <a:srgbClr val="94A3B8"/>
                </a:solidFill>
                <a:latin typeface="Calibri"/>
              </a:defRPr>
            </a:pPr>
            <a:r>
              <a:t>Direct JSON ingestion from official CSE endpoints (daily bars + ASPI series). Partitioned zero-copy Parquet lakehouse architecture with sub-millisecond columnar read performance.</a:t>
            </a:r>
          </a:p>
        </p:txBody>
      </p:sp>
      <p:sp>
        <p:nvSpPr>
          <p:cNvPr id="8" name="Rectangle 7"/>
          <p:cNvSpPr/>
          <p:nvPr/>
        </p:nvSpPr>
        <p:spPr>
          <a:xfrm>
            <a:off x="731520" y="2880360"/>
            <a:ext cx="10698480" cy="914400"/>
          </a:xfrm>
          <a:prstGeom prst="rect">
            <a:avLst/>
          </a:prstGeom>
          <a:solidFill>
            <a:srgbClr val="121824"/>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953512"/>
            <a:ext cx="10332720" cy="777240"/>
          </a:xfrm>
          <a:prstGeom prst="rect">
            <a:avLst/>
          </a:prstGeom>
          <a:noFill/>
        </p:spPr>
        <p:txBody>
          <a:bodyPr wrap="square">
            <a:spAutoFit/>
          </a:bodyPr>
          <a:lstStyle/>
          <a:p>
            <a:pPr>
              <a:defRPr sz="1100" b="1">
                <a:solidFill>
                  <a:srgbClr val="38BDF8"/>
                </a:solidFill>
                <a:latin typeface="Consolas"/>
              </a:defRPr>
            </a:pPr>
            <a:r>
              <a:t>[STAGE 02]  </a:t>
            </a:r>
            <a:r>
              <a:rPr sz="1300" b="1">
                <a:solidFill>
                  <a:srgbClr val="F8FAFC"/>
                </a:solidFill>
                <a:latin typeface="Trebuchet MS"/>
              </a:rPr>
              <a:t>Vectorized Feature Store   </a:t>
            </a:r>
            <a:r>
              <a:rPr sz="1000">
                <a:solidFill>
                  <a:srgbClr val="94A3B8"/>
                </a:solidFill>
                <a:latin typeface="Consolas"/>
              </a:rPr>
              <a:t>[22 Microstructure Indicators]</a:t>
            </a:r>
          </a:p>
          <a:p>
            <a:pPr>
              <a:spcBef>
                <a:spcPts val="300"/>
              </a:spcBef>
              <a:defRPr sz="1100">
                <a:solidFill>
                  <a:srgbClr val="94A3B8"/>
                </a:solidFill>
                <a:latin typeface="Calibri"/>
              </a:defRPr>
            </a:pPr>
            <a:r>
              <a:t>Zero-leakage backward rolling feature engineering: 5x more efficient Parkinson high-low volatility, Wilder RSI(14), MACD histogram, volume expansion ratios, and ASPI relative return spreads.</a:t>
            </a:r>
          </a:p>
        </p:txBody>
      </p:sp>
      <p:sp>
        <p:nvSpPr>
          <p:cNvPr id="10" name="Rectangle 9"/>
          <p:cNvSpPr/>
          <p:nvPr/>
        </p:nvSpPr>
        <p:spPr>
          <a:xfrm>
            <a:off x="731520" y="3931920"/>
            <a:ext cx="10698480" cy="914400"/>
          </a:xfrm>
          <a:prstGeom prst="rect">
            <a:avLst/>
          </a:prstGeom>
          <a:solidFill>
            <a:srgbClr val="121824"/>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005072"/>
            <a:ext cx="10332720" cy="777240"/>
          </a:xfrm>
          <a:prstGeom prst="rect">
            <a:avLst/>
          </a:prstGeom>
          <a:noFill/>
        </p:spPr>
        <p:txBody>
          <a:bodyPr wrap="square">
            <a:spAutoFit/>
          </a:bodyPr>
          <a:lstStyle/>
          <a:p>
            <a:pPr>
              <a:defRPr sz="1100" b="1">
                <a:solidFill>
                  <a:srgbClr val="38BDF8"/>
                </a:solidFill>
                <a:latin typeface="Consolas"/>
              </a:defRPr>
            </a:pPr>
            <a:r>
              <a:t>[STAGE 03]  </a:t>
            </a:r>
            <a:r>
              <a:rPr sz="1300" b="1">
                <a:solidFill>
                  <a:srgbClr val="F8FAFC"/>
                </a:solidFill>
                <a:latin typeface="Trebuchet MS"/>
              </a:rPr>
              <a:t>Purged CV &amp; Quantile Training   </a:t>
            </a:r>
            <a:r>
              <a:rPr sz="1000">
                <a:solidFill>
                  <a:srgbClr val="94A3B8"/>
                </a:solidFill>
                <a:latin typeface="Consolas"/>
              </a:rPr>
              <a:t>[Pinball Loss [P10, P50, P90]]</a:t>
            </a:r>
          </a:p>
          <a:p>
            <a:pPr>
              <a:spcBef>
                <a:spcPts val="300"/>
              </a:spcBef>
              <a:defRPr sz="1100">
                <a:solidFill>
                  <a:srgbClr val="94A3B8"/>
                </a:solidFill>
                <a:latin typeface="Calibri"/>
              </a:defRPr>
            </a:pPr>
            <a:r>
              <a:t>5-fold expanding walk-forward validation with a strict 30-day embargo gap. Tri-quantile LightGBM models serialized to disk (&lt;200 KB per model) with benchmark tournaments vs Prophet and Random Walk.</a:t>
            </a:r>
          </a:p>
        </p:txBody>
      </p:sp>
      <p:sp>
        <p:nvSpPr>
          <p:cNvPr id="12" name="Rectangle 11"/>
          <p:cNvSpPr/>
          <p:nvPr/>
        </p:nvSpPr>
        <p:spPr>
          <a:xfrm>
            <a:off x="731520" y="4983479"/>
            <a:ext cx="10698480" cy="914400"/>
          </a:xfrm>
          <a:prstGeom prst="rect">
            <a:avLst/>
          </a:prstGeom>
          <a:solidFill>
            <a:srgbClr val="121824"/>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056631"/>
            <a:ext cx="10332720" cy="777240"/>
          </a:xfrm>
          <a:prstGeom prst="rect">
            <a:avLst/>
          </a:prstGeom>
          <a:noFill/>
        </p:spPr>
        <p:txBody>
          <a:bodyPr wrap="square">
            <a:spAutoFit/>
          </a:bodyPr>
          <a:lstStyle/>
          <a:p>
            <a:pPr>
              <a:defRPr sz="1100" b="1">
                <a:solidFill>
                  <a:srgbClr val="38BDF8"/>
                </a:solidFill>
                <a:latin typeface="Consolas"/>
              </a:defRPr>
            </a:pPr>
            <a:r>
              <a:t>[STAGE 04]  </a:t>
            </a:r>
            <a:r>
              <a:rPr sz="1300" b="1">
                <a:solidFill>
                  <a:srgbClr val="F8FAFC"/>
                </a:solidFill>
                <a:latin typeface="Trebuchet MS"/>
              </a:rPr>
              <a:t>Serving REST API &amp; Cockpit   </a:t>
            </a:r>
            <a:r>
              <a:rPr sz="1000">
                <a:solidFill>
                  <a:srgbClr val="94A3B8"/>
                </a:solidFill>
                <a:latin typeface="Consolas"/>
              </a:rPr>
              <a:t>[FastAPI + React 19 + TradingView]</a:t>
            </a:r>
          </a:p>
          <a:p>
            <a:pPr>
              <a:spcBef>
                <a:spcPts val="300"/>
              </a:spcBef>
              <a:defRPr sz="1100">
                <a:solidFill>
                  <a:srgbClr val="94A3B8"/>
                </a:solidFill>
                <a:latin typeface="Calibri"/>
              </a:defRPr>
            </a:pPr>
            <a:r>
              <a:t>Production FastAPI microservice delivering dynamic 30-day quantile trajectories, exact TreeSHAP attributions, and institutional heuristic validation cards rendered via TradingView Lightweight Charts.</a:t>
            </a:r>
          </a:p>
        </p:txBody>
      </p:sp>
      <p:sp>
        <p:nvSpPr>
          <p:cNvPr id="14" name="TextBox 13"/>
          <p:cNvSpPr txBox="1"/>
          <p:nvPr/>
        </p:nvSpPr>
        <p:spPr>
          <a:xfrm>
            <a:off x="731520" y="6263640"/>
            <a:ext cx="10698480" cy="365760"/>
          </a:xfrm>
          <a:prstGeom prst="rect">
            <a:avLst/>
          </a:prstGeom>
          <a:noFill/>
        </p:spPr>
        <p:txBody>
          <a:bodyPr wrap="none">
            <a:spAutoFit/>
          </a:bodyPr>
          <a:lstStyle/>
          <a:p>
            <a:pPr>
              <a:defRPr sz="1000">
                <a:solidFill>
                  <a:srgbClr val="64748B"/>
                </a:solidFill>
                <a:latin typeface="Consolas"/>
              </a:defRPr>
            </a:pPr>
            <a:r>
              <a:t>DECOUPLED LAKEHOUSE ARCHITECTURE</a:t>
            </a:r>
            <a:r>
              <a:rPr b="1">
                <a:solidFill>
                  <a:srgbClr val="38BDF8"/>
                </a:solidFill>
              </a:rPr>
              <a:t>   |   [02 / 05]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square">
            <a:spAutoFit/>
          </a:bodyPr>
          <a:lstStyle/>
          <a:p>
            <a:pPr>
              <a:defRPr sz="1100" b="1">
                <a:solidFill>
                  <a:srgbClr val="38BDF8"/>
                </a:solidFill>
                <a:latin typeface="Consolas"/>
              </a:defRPr>
            </a:pPr>
            <a:r>
              <a:t>[ VALIDATION &amp; RISK ENGINE ]</a:t>
            </a:r>
          </a:p>
        </p:txBody>
      </p:sp>
      <p:sp>
        <p:nvSpPr>
          <p:cNvPr id="4" name="TextBox 3"/>
          <p:cNvSpPr txBox="1"/>
          <p:nvPr/>
        </p:nvSpPr>
        <p:spPr>
          <a:xfrm>
            <a:off x="731520" y="685800"/>
            <a:ext cx="10698480" cy="640080"/>
          </a:xfrm>
          <a:prstGeom prst="rect">
            <a:avLst/>
          </a:prstGeom>
          <a:noFill/>
        </p:spPr>
        <p:txBody>
          <a:bodyPr wrap="square">
            <a:spAutoFit/>
          </a:bodyPr>
          <a:lstStyle/>
          <a:p>
            <a:pPr>
              <a:defRPr sz="2600" b="1">
                <a:solidFill>
                  <a:srgbClr val="F8FAFC"/>
                </a:solidFill>
                <a:latin typeface="Trebuchet MS"/>
              </a:defRPr>
            </a:pPr>
            <a:r>
              <a:t>Purged Cross-Validation &amp; Pinball Cones</a:t>
            </a:r>
          </a:p>
        </p:txBody>
      </p:sp>
      <p:sp>
        <p:nvSpPr>
          <p:cNvPr id="5" name="TextBox 4"/>
          <p:cNvSpPr txBox="1"/>
          <p:nvPr/>
        </p:nvSpPr>
        <p:spPr>
          <a:xfrm>
            <a:off x="731520" y="1280160"/>
            <a:ext cx="10698480" cy="411480"/>
          </a:xfrm>
          <a:prstGeom prst="rect">
            <a:avLst/>
          </a:prstGeom>
          <a:noFill/>
        </p:spPr>
        <p:txBody>
          <a:bodyPr wrap="square">
            <a:spAutoFit/>
          </a:bodyPr>
          <a:lstStyle/>
          <a:p>
            <a:pPr>
              <a:defRPr sz="1300">
                <a:solidFill>
                  <a:srgbClr val="94A3B8"/>
                </a:solidFill>
                <a:latin typeface="Calibri"/>
              </a:defRPr>
            </a:pPr>
            <a:r>
              <a:t>Eliminating overlapping label contamination and replacing fragile single-point estimates with asymmetric risk envelopes.</a:t>
            </a:r>
          </a:p>
        </p:txBody>
      </p:sp>
      <p:sp>
        <p:nvSpPr>
          <p:cNvPr id="6" name="Rectangle 5"/>
          <p:cNvSpPr/>
          <p:nvPr/>
        </p:nvSpPr>
        <p:spPr>
          <a:xfrm>
            <a:off x="731520" y="1828800"/>
            <a:ext cx="5212080" cy="4206240"/>
          </a:xfrm>
          <a:prstGeom prst="rect">
            <a:avLst/>
          </a:prstGeom>
          <a:solidFill>
            <a:srgbClr val="121824"/>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65960"/>
            <a:ext cx="4846320" cy="3931920"/>
          </a:xfrm>
          <a:prstGeom prst="rect">
            <a:avLst/>
          </a:prstGeom>
          <a:noFill/>
        </p:spPr>
        <p:txBody>
          <a:bodyPr wrap="square">
            <a:spAutoFit/>
          </a:bodyPr>
          <a:lstStyle/>
          <a:p>
            <a:pPr>
              <a:defRPr sz="1400" b="1">
                <a:solidFill>
                  <a:srgbClr val="F8FAFC"/>
                </a:solidFill>
                <a:latin typeface="Trebuchet MS"/>
              </a:defRPr>
            </a:pPr>
            <a:r>
              <a:t>Leakage-Free Purged &amp; Embargoed Walk-Forward CV</a:t>
            </a:r>
          </a:p>
          <a:p>
            <a:pPr>
              <a:spcBef>
                <a:spcPts val="800"/>
              </a:spcBef>
              <a:defRPr sz="1200">
                <a:solidFill>
                  <a:srgbClr val="94A3B8"/>
                </a:solidFill>
                <a:latin typeface="Calibri"/>
              </a:defRPr>
            </a:pPr>
            <a:r>
              <a:t>Standard random K-Fold CV destroys temporal sequence and leaks future signals. Because targets span forward 30 trading days, training bars within 30 days of the test window share overlapping return labels.</a:t>
            </a:r>
          </a:p>
          <a:p>
            <a:pPr>
              <a:spcBef>
                <a:spcPts val="1200"/>
              </a:spcBef>
              <a:defRPr sz="1100" b="1">
                <a:solidFill>
                  <a:srgbClr val="38BDF8"/>
                </a:solidFill>
                <a:latin typeface="Consolas"/>
              </a:defRPr>
            </a:pPr>
            <a:r>
              <a:t>Chronological 5-Fold Validation Scheme:</a:t>
            </a:r>
          </a:p>
          <a:p>
            <a:pPr>
              <a:spcBef>
                <a:spcPts val="600"/>
              </a:spcBef>
              <a:defRPr sz="950">
                <a:solidFill>
                  <a:srgbClr val="F8FAFC"/>
                </a:solidFill>
                <a:latin typeface="Consolas"/>
              </a:defRPr>
            </a:pPr>
            <a:r>
              <a:t>Time ────────────────────────────────────────►</a:t>
            </a:r>
            <a:br/>
            <a:r>
              <a:t>Fold 1: [== Train (250d) ==] [Purge: 30d] [Test: 60d] [Embargo: 30d]</a:t>
            </a:r>
            <a:br/>
            <a:r>
              <a:t>Fold 2: [==== Train (310d) ====] [Purge: 30d] [Test: 60d] [Embargo: 30d]</a:t>
            </a:r>
            <a:br/>
            <a:r>
              <a:t>Fold 3: [====== Train (370d) ======] [Purge: 30d] [Test: 60d] ...</a:t>
            </a:r>
          </a:p>
        </p:txBody>
      </p:sp>
      <p:sp>
        <p:nvSpPr>
          <p:cNvPr id="8" name="Rectangle 7"/>
          <p:cNvSpPr/>
          <p:nvPr/>
        </p:nvSpPr>
        <p:spPr>
          <a:xfrm>
            <a:off x="6217920" y="1828800"/>
            <a:ext cx="5212080" cy="4206240"/>
          </a:xfrm>
          <a:prstGeom prst="rect">
            <a:avLst/>
          </a:prstGeom>
          <a:solidFill>
            <a:srgbClr val="121824"/>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965960"/>
            <a:ext cx="4846320" cy="3931920"/>
          </a:xfrm>
          <a:prstGeom prst="rect">
            <a:avLst/>
          </a:prstGeom>
          <a:noFill/>
        </p:spPr>
        <p:txBody>
          <a:bodyPr wrap="square">
            <a:spAutoFit/>
          </a:bodyPr>
          <a:lstStyle/>
          <a:p>
            <a:pPr>
              <a:defRPr sz="1400" b="1">
                <a:solidFill>
                  <a:srgbClr val="F8FAFC"/>
                </a:solidFill>
                <a:latin typeface="Trebuchet MS"/>
              </a:defRPr>
            </a:pPr>
            <a:r>
              <a:t>Asymmetric Pinball Quantile Distribution</a:t>
            </a:r>
          </a:p>
          <a:p>
            <a:pPr>
              <a:spcBef>
                <a:spcPts val="600"/>
              </a:spcBef>
              <a:defRPr sz="1000">
                <a:solidFill>
                  <a:srgbClr val="34D399"/>
                </a:solidFill>
                <a:latin typeface="Consolas"/>
              </a:defRPr>
            </a:pPr>
            <a:r>
              <a:t>Loss Formulation:  L_q(y, y_hat) = max( q*(y - y_hat), (1-q)*(y_hat - y) )</a:t>
            </a:r>
          </a:p>
          <a:p>
            <a:pPr>
              <a:spcBef>
                <a:spcPts val="1000"/>
              </a:spcBef>
              <a:defRPr sz="1100" b="1">
                <a:solidFill>
                  <a:srgbClr val="F87171"/>
                </a:solidFill>
                <a:latin typeface="Consolas"/>
              </a:defRPr>
            </a:pPr>
            <a:r>
              <a:t>[P10] Downside Value-at-Risk Floor (q = 0.10)</a:t>
            </a:r>
          </a:p>
          <a:p>
            <a:pPr>
              <a:spcBef>
                <a:spcPts val="200"/>
              </a:spcBef>
              <a:defRPr sz="1100">
                <a:solidFill>
                  <a:srgbClr val="94A3B8"/>
                </a:solidFill>
                <a:latin typeface="Calibri"/>
              </a:defRPr>
            </a:pPr>
            <a:r>
              <a:t>Penalizes underpredicting extreme drawdowns 9x more than upside misses. Acts as the 90% confidence downside support boundary.</a:t>
            </a:r>
          </a:p>
          <a:p>
            <a:pPr>
              <a:spcBef>
                <a:spcPts val="1000"/>
              </a:spcBef>
              <a:defRPr sz="1100" b="1">
                <a:solidFill>
                  <a:srgbClr val="38BDF8"/>
                </a:solidFill>
                <a:latin typeface="Consolas"/>
              </a:defRPr>
            </a:pPr>
            <a:r>
              <a:t>[P50] Median Expected Trajectory (q = 0.50)</a:t>
            </a:r>
          </a:p>
          <a:p>
            <a:pPr>
              <a:spcBef>
                <a:spcPts val="200"/>
              </a:spcBef>
              <a:defRPr sz="1100">
                <a:solidFill>
                  <a:srgbClr val="94A3B8"/>
                </a:solidFill>
                <a:latin typeface="Calibri"/>
              </a:defRPr>
            </a:pPr>
            <a:r>
              <a:t>Minimizes MAE; mathematically robust against frontier market illiquid outlier spikes and manipulation jumps.</a:t>
            </a:r>
          </a:p>
          <a:p>
            <a:pPr>
              <a:spcBef>
                <a:spcPts val="1000"/>
              </a:spcBef>
              <a:defRPr sz="1100" b="1">
                <a:solidFill>
                  <a:srgbClr val="34D399"/>
                </a:solidFill>
                <a:latin typeface="Consolas"/>
              </a:defRPr>
            </a:pPr>
            <a:r>
              <a:t>[P90] Bullish Expansion Envelope (q = 0.90)</a:t>
            </a:r>
          </a:p>
          <a:p>
            <a:pPr>
              <a:spcBef>
                <a:spcPts val="200"/>
              </a:spcBef>
              <a:defRPr sz="1100">
                <a:solidFill>
                  <a:srgbClr val="94A3B8"/>
                </a:solidFill>
                <a:latin typeface="Calibri"/>
              </a:defRPr>
            </a:pPr>
            <a:r>
              <a:t>Upper 90th percentile boundary indicating sustained bullish momentum expansion resistance.</a:t>
            </a:r>
          </a:p>
        </p:txBody>
      </p:sp>
      <p:sp>
        <p:nvSpPr>
          <p:cNvPr id="10" name="TextBox 9"/>
          <p:cNvSpPr txBox="1"/>
          <p:nvPr/>
        </p:nvSpPr>
        <p:spPr>
          <a:xfrm>
            <a:off x="731520" y="6263640"/>
            <a:ext cx="10698480" cy="365760"/>
          </a:xfrm>
          <a:prstGeom prst="rect">
            <a:avLst/>
          </a:prstGeom>
          <a:noFill/>
        </p:spPr>
        <p:txBody>
          <a:bodyPr wrap="none">
            <a:spAutoFit/>
          </a:bodyPr>
          <a:lstStyle/>
          <a:p>
            <a:pPr>
              <a:defRPr sz="1000">
                <a:solidFill>
                  <a:srgbClr val="64748B"/>
                </a:solidFill>
                <a:latin typeface="Consolas"/>
              </a:defRPr>
            </a:pPr>
            <a:r>
              <a:t>RIGOROUS TIME-SERIES GOVERNANCE</a:t>
            </a:r>
            <a:r>
              <a:rPr b="1">
                <a:solidFill>
                  <a:srgbClr val="38BDF8"/>
                </a:solidFill>
              </a:rPr>
              <a:t>   |   [03 / 05]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square">
            <a:spAutoFit/>
          </a:bodyPr>
          <a:lstStyle/>
          <a:p>
            <a:pPr>
              <a:defRPr sz="1100" b="1">
                <a:solidFill>
                  <a:srgbClr val="38BDF8"/>
                </a:solidFill>
                <a:latin typeface="Consolas"/>
              </a:defRPr>
            </a:pPr>
            <a:r>
              <a:t>[ MODEL INTERPRETABILITY ]</a:t>
            </a:r>
          </a:p>
        </p:txBody>
      </p:sp>
      <p:sp>
        <p:nvSpPr>
          <p:cNvPr id="4" name="TextBox 3"/>
          <p:cNvSpPr txBox="1"/>
          <p:nvPr/>
        </p:nvSpPr>
        <p:spPr>
          <a:xfrm>
            <a:off x="731520" y="685800"/>
            <a:ext cx="10698480" cy="640080"/>
          </a:xfrm>
          <a:prstGeom prst="rect">
            <a:avLst/>
          </a:prstGeom>
          <a:noFill/>
        </p:spPr>
        <p:txBody>
          <a:bodyPr wrap="square">
            <a:spAutoFit/>
          </a:bodyPr>
          <a:lstStyle/>
          <a:p>
            <a:pPr>
              <a:defRPr sz="2600" b="1">
                <a:solidFill>
                  <a:srgbClr val="F8FAFC"/>
                </a:solidFill>
                <a:latin typeface="Trebuchet MS"/>
              </a:defRPr>
            </a:pPr>
            <a:r>
              <a:t>Solving the Black-Box Dilemma</a:t>
            </a:r>
          </a:p>
        </p:txBody>
      </p:sp>
      <p:sp>
        <p:nvSpPr>
          <p:cNvPr id="5" name="TextBox 4"/>
          <p:cNvSpPr txBox="1"/>
          <p:nvPr/>
        </p:nvSpPr>
        <p:spPr>
          <a:xfrm>
            <a:off x="731520" y="1280160"/>
            <a:ext cx="10698480" cy="411480"/>
          </a:xfrm>
          <a:prstGeom prst="rect">
            <a:avLst/>
          </a:prstGeom>
          <a:noFill/>
        </p:spPr>
        <p:txBody>
          <a:bodyPr wrap="square">
            <a:spAutoFit/>
          </a:bodyPr>
          <a:lstStyle/>
          <a:p>
            <a:pPr>
              <a:defRPr sz="1300">
                <a:solidFill>
                  <a:srgbClr val="94A3B8"/>
                </a:solidFill>
                <a:latin typeface="Calibri"/>
              </a:defRPr>
            </a:pPr>
            <a:r>
              <a:t>Bridging mathematical Shapley attribution and trader heuristic intuition into a transparent decision engine.</a:t>
            </a:r>
          </a:p>
        </p:txBody>
      </p:sp>
      <p:sp>
        <p:nvSpPr>
          <p:cNvPr id="6" name="Rectangle 5"/>
          <p:cNvSpPr/>
          <p:nvPr/>
        </p:nvSpPr>
        <p:spPr>
          <a:xfrm>
            <a:off x="731520" y="1828800"/>
            <a:ext cx="10698480" cy="2011680"/>
          </a:xfrm>
          <a:prstGeom prst="rect">
            <a:avLst/>
          </a:prstGeom>
          <a:solidFill>
            <a:srgbClr val="121824"/>
          </a:solidFill>
          <a:ln w="19050">
            <a:solidFill>
              <a:srgbClr val="C08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10332720" cy="1828800"/>
          </a:xfrm>
          <a:prstGeom prst="rect">
            <a:avLst/>
          </a:prstGeom>
          <a:noFill/>
        </p:spPr>
        <p:txBody>
          <a:bodyPr wrap="square">
            <a:spAutoFit/>
          </a:bodyPr>
          <a:lstStyle/>
          <a:p>
            <a:pPr>
              <a:defRPr sz="1300" b="1">
                <a:solidFill>
                  <a:srgbClr val="C084FC"/>
                </a:solidFill>
                <a:latin typeface="Trebuchet MS"/>
              </a:defRPr>
            </a:pPr>
            <a:r>
              <a:t>Layer 1: Exact TreeSHAP Mathematical Attribution   [ y_hat = phi_0 + sum(phi_i) ]</a:t>
            </a:r>
          </a:p>
          <a:p>
            <a:pPr>
              <a:spcBef>
                <a:spcPts val="400"/>
              </a:spcBef>
              <a:defRPr sz="1100">
                <a:solidFill>
                  <a:srgbClr val="94A3B8"/>
                </a:solidFill>
                <a:latin typeface="Calibri"/>
              </a:defRPr>
            </a:pPr>
            <a:r>
              <a:t>Decomposes predicted 30-day cumulative return into exact basis-point feature contributions (tested for exact additivity in pytest):</a:t>
            </a:r>
          </a:p>
          <a:p>
            <a:pPr>
              <a:spcBef>
                <a:spcPts val="300"/>
              </a:spcBef>
              <a:defRPr sz="1000">
                <a:solidFill>
                  <a:srgbClr val="34D399"/>
                </a:solidFill>
                <a:latin typeface="Consolas"/>
              </a:defRPr>
            </a:pPr>
            <a:r>
              <a:t>•  parkinson_vol_20d       [+0.52% Return Impact]    -- High-low volatility expansion drives expected volatility premium</a:t>
            </a:r>
          </a:p>
          <a:p>
            <a:pPr>
              <a:spcBef>
                <a:spcPts val="300"/>
              </a:spcBef>
              <a:defRPr sz="1000">
                <a:solidFill>
                  <a:srgbClr val="34D399"/>
                </a:solidFill>
                <a:latin typeface="Consolas"/>
              </a:defRPr>
            </a:pPr>
            <a:r>
              <a:t>•  aspi_return_30d         [+0.31% Return Impact]    -- Broad market cyclical index momentum supports equity trajectory</a:t>
            </a:r>
          </a:p>
          <a:p>
            <a:pPr>
              <a:spcBef>
                <a:spcPts val="300"/>
              </a:spcBef>
              <a:defRPr sz="1000">
                <a:solidFill>
                  <a:srgbClr val="F87171"/>
                </a:solidFill>
                <a:latin typeface="Consolas"/>
              </a:defRPr>
            </a:pPr>
            <a:r>
              <a:t>•  rsi_14                  [-0.28% Return Impact]    -- Wilder RSI approaching short-term exhaustion boundary</a:t>
            </a:r>
          </a:p>
        </p:txBody>
      </p:sp>
      <p:sp>
        <p:nvSpPr>
          <p:cNvPr id="8" name="Rectangle 7"/>
          <p:cNvSpPr/>
          <p:nvPr/>
        </p:nvSpPr>
        <p:spPr>
          <a:xfrm>
            <a:off x="731520" y="4023360"/>
            <a:ext cx="10698480" cy="2011680"/>
          </a:xfrm>
          <a:prstGeom prst="rect">
            <a:avLst/>
          </a:prstGeom>
          <a:solidFill>
            <a:srgbClr val="121824"/>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114800"/>
            <a:ext cx="10332720" cy="1828800"/>
          </a:xfrm>
          <a:prstGeom prst="rect">
            <a:avLst/>
          </a:prstGeom>
          <a:noFill/>
        </p:spPr>
        <p:txBody>
          <a:bodyPr wrap="square">
            <a:spAutoFit/>
          </a:bodyPr>
          <a:lstStyle/>
          <a:p>
            <a:pPr>
              <a:defRPr sz="1300" b="1">
                <a:solidFill>
                  <a:srgbClr val="38BDF8"/>
                </a:solidFill>
                <a:latin typeface="Trebuchet MS"/>
              </a:defRPr>
            </a:pPr>
            <a:r>
              <a:t>Layer 2: Domain Indicator Heuristics Alignment   [ Institutional Rule Engine ]</a:t>
            </a:r>
          </a:p>
          <a:p>
            <a:pPr>
              <a:spcBef>
                <a:spcPts val="600"/>
              </a:spcBef>
              <a:defRPr sz="1050">
                <a:solidFill>
                  <a:srgbClr val="34D399"/>
                </a:solidFill>
                <a:latin typeface="Consolas"/>
              </a:defRPr>
            </a:pPr>
            <a:r>
              <a:t>[SUPPORTING]          RSI (14-Day)             : Momentum expansion confirms bullish median trajectory without exceeding overbought exhaustion threshold (&lt;70).</a:t>
            </a:r>
          </a:p>
          <a:p>
            <a:pPr>
              <a:spcBef>
                <a:spcPts val="600"/>
              </a:spcBef>
              <a:defRPr sz="1050">
                <a:solidFill>
                  <a:srgbClr val="F87171"/>
                </a:solidFill>
                <a:latin typeface="Consolas"/>
              </a:defRPr>
            </a:pPr>
            <a:r>
              <a:t>[REJECTING / RISK]    Parkinson Volatility     : Elevated 20d dispersion widens the downside P10 boundary, signaling potential trend instability.</a:t>
            </a:r>
          </a:p>
          <a:p>
            <a:pPr>
              <a:spcBef>
                <a:spcPts val="600"/>
              </a:spcBef>
              <a:defRPr sz="1050">
                <a:solidFill>
                  <a:srgbClr val="94A3B8"/>
                </a:solidFill>
                <a:latin typeface="Consolas"/>
              </a:defRPr>
            </a:pPr>
            <a:r>
              <a:t>[NEUTRAL]             Volume Surge Ratio       : Trading activity tracks 20-day baseline average; neither confirms nor contradicts breakout velocity.</a:t>
            </a:r>
          </a:p>
        </p:txBody>
      </p:sp>
      <p:sp>
        <p:nvSpPr>
          <p:cNvPr id="10" name="TextBox 9"/>
          <p:cNvSpPr txBox="1"/>
          <p:nvPr/>
        </p:nvSpPr>
        <p:spPr>
          <a:xfrm>
            <a:off x="731520" y="6263640"/>
            <a:ext cx="10698480" cy="365760"/>
          </a:xfrm>
          <a:prstGeom prst="rect">
            <a:avLst/>
          </a:prstGeom>
          <a:noFill/>
        </p:spPr>
        <p:txBody>
          <a:bodyPr wrap="none">
            <a:spAutoFit/>
          </a:bodyPr>
          <a:lstStyle/>
          <a:p>
            <a:pPr>
              <a:defRPr sz="1000">
                <a:solidFill>
                  <a:srgbClr val="64748B"/>
                </a:solidFill>
                <a:latin typeface="Consolas"/>
              </a:defRPr>
            </a:pPr>
            <a:r>
              <a:t>DUAL-LAYER TECHNICAL INTERPRETABILITY</a:t>
            </a:r>
            <a:r>
              <a:rPr b="1">
                <a:solidFill>
                  <a:srgbClr val="38BDF8"/>
                </a:solidFill>
              </a:rPr>
              <a:t>   |   [04 / 05]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515600" cy="320040"/>
          </a:xfrm>
          <a:prstGeom prst="rect">
            <a:avLst/>
          </a:prstGeom>
          <a:noFill/>
        </p:spPr>
        <p:txBody>
          <a:bodyPr wrap="square">
            <a:spAutoFit/>
          </a:bodyPr>
          <a:lstStyle/>
          <a:p>
            <a:pPr>
              <a:defRPr sz="1100" b="1">
                <a:solidFill>
                  <a:srgbClr val="38BDF8"/>
                </a:solidFill>
                <a:latin typeface="Consolas"/>
              </a:defRPr>
            </a:pPr>
            <a:r>
              <a:t>[ PRODUCTION SERVING ]</a:t>
            </a:r>
          </a:p>
        </p:txBody>
      </p:sp>
      <p:sp>
        <p:nvSpPr>
          <p:cNvPr id="4" name="TextBox 3"/>
          <p:cNvSpPr txBox="1"/>
          <p:nvPr/>
        </p:nvSpPr>
        <p:spPr>
          <a:xfrm>
            <a:off x="731520" y="685800"/>
            <a:ext cx="10698480" cy="640080"/>
          </a:xfrm>
          <a:prstGeom prst="rect">
            <a:avLst/>
          </a:prstGeom>
          <a:noFill/>
        </p:spPr>
        <p:txBody>
          <a:bodyPr wrap="square">
            <a:spAutoFit/>
          </a:bodyPr>
          <a:lstStyle/>
          <a:p>
            <a:pPr>
              <a:defRPr sz="2600" b="1">
                <a:solidFill>
                  <a:srgbClr val="F8FAFC"/>
                </a:solidFill>
                <a:latin typeface="Trebuchet MS"/>
              </a:defRPr>
            </a:pPr>
            <a:r>
              <a:t>Production Stack &amp; Empirical Results</a:t>
            </a:r>
          </a:p>
        </p:txBody>
      </p:sp>
      <p:sp>
        <p:nvSpPr>
          <p:cNvPr id="5" name="TextBox 4"/>
          <p:cNvSpPr txBox="1"/>
          <p:nvPr/>
        </p:nvSpPr>
        <p:spPr>
          <a:xfrm>
            <a:off x="731520" y="1280160"/>
            <a:ext cx="10698480" cy="411480"/>
          </a:xfrm>
          <a:prstGeom prst="rect">
            <a:avLst/>
          </a:prstGeom>
          <a:noFill/>
        </p:spPr>
        <p:txBody>
          <a:bodyPr wrap="square">
            <a:spAutoFit/>
          </a:bodyPr>
          <a:lstStyle/>
          <a:p>
            <a:pPr>
              <a:defRPr sz="1300">
                <a:solidFill>
                  <a:srgbClr val="94A3B8"/>
                </a:solidFill>
                <a:latin typeface="Calibri"/>
              </a:defRPr>
            </a:pPr>
            <a:r>
              <a:t>Validated out-of-sample quantitative edge backed by an automated 100% free cloud deployment topology.</a:t>
            </a:r>
          </a:p>
        </p:txBody>
      </p:sp>
      <p:sp>
        <p:nvSpPr>
          <p:cNvPr id="6" name="Rectangle 5"/>
          <p:cNvSpPr/>
          <p:nvPr/>
        </p:nvSpPr>
        <p:spPr>
          <a:xfrm>
            <a:off x="731520" y="1828800"/>
            <a:ext cx="3383280" cy="1371600"/>
          </a:xfrm>
          <a:prstGeom prst="rect">
            <a:avLst/>
          </a:prstGeom>
          <a:solidFill>
            <a:srgbClr val="121824"/>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20240"/>
            <a:ext cx="3108960" cy="1188720"/>
          </a:xfrm>
          <a:prstGeom prst="rect">
            <a:avLst/>
          </a:prstGeom>
          <a:noFill/>
        </p:spPr>
        <p:txBody>
          <a:bodyPr wrap="square">
            <a:spAutoFit/>
          </a:bodyPr>
          <a:lstStyle/>
          <a:p>
            <a:pPr algn="ctr">
              <a:defRPr sz="2800" b="1">
                <a:solidFill>
                  <a:srgbClr val="38BDF8"/>
                </a:solidFill>
                <a:latin typeface="Trebuchet MS"/>
              </a:defRPr>
            </a:pPr>
            <a:r>
              <a:t>58.3%</a:t>
            </a:r>
          </a:p>
          <a:p>
            <a:pPr algn="ctr">
              <a:spcBef>
                <a:spcPts val="200"/>
              </a:spcBef>
              <a:defRPr sz="1000" b="1">
                <a:solidFill>
                  <a:srgbClr val="F8FAFC"/>
                </a:solidFill>
                <a:latin typeface="Consolas"/>
              </a:defRPr>
            </a:pPr>
            <a:r>
              <a:t>DIRECTIONAL ACCURACY</a:t>
            </a:r>
          </a:p>
          <a:p>
            <a:pPr algn="ctr">
              <a:spcBef>
                <a:spcPts val="200"/>
              </a:spcBef>
              <a:defRPr sz="950">
                <a:solidFill>
                  <a:srgbClr val="64748B"/>
                </a:solidFill>
                <a:latin typeface="Calibri"/>
              </a:defRPr>
            </a:pPr>
            <a:r>
              <a:t>+8.3% edge over 50% Naive Random Walk</a:t>
            </a:r>
          </a:p>
        </p:txBody>
      </p:sp>
      <p:sp>
        <p:nvSpPr>
          <p:cNvPr id="8" name="Rectangle 7"/>
          <p:cNvSpPr/>
          <p:nvPr/>
        </p:nvSpPr>
        <p:spPr>
          <a:xfrm>
            <a:off x="4389120" y="1828800"/>
            <a:ext cx="3383280" cy="1371600"/>
          </a:xfrm>
          <a:prstGeom prst="rect">
            <a:avLst/>
          </a:prstGeom>
          <a:solidFill>
            <a:srgbClr val="121824"/>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920240"/>
            <a:ext cx="3108960" cy="1188720"/>
          </a:xfrm>
          <a:prstGeom prst="rect">
            <a:avLst/>
          </a:prstGeom>
          <a:noFill/>
        </p:spPr>
        <p:txBody>
          <a:bodyPr wrap="square">
            <a:spAutoFit/>
          </a:bodyPr>
          <a:lstStyle/>
          <a:p>
            <a:pPr algn="ctr">
              <a:defRPr sz="2800" b="1">
                <a:solidFill>
                  <a:srgbClr val="34D399"/>
                </a:solidFill>
                <a:latin typeface="Trebuchet MS"/>
              </a:defRPr>
            </a:pPr>
            <a:r>
              <a:t>79.4%</a:t>
            </a:r>
          </a:p>
          <a:p>
            <a:pPr algn="ctr">
              <a:spcBef>
                <a:spcPts val="200"/>
              </a:spcBef>
              <a:defRPr sz="1000" b="1">
                <a:solidFill>
                  <a:srgbClr val="F8FAFC"/>
                </a:solidFill>
                <a:latin typeface="Consolas"/>
              </a:defRPr>
            </a:pPr>
            <a:r>
              <a:t>EMPIRICAL COVERAGE</a:t>
            </a:r>
          </a:p>
          <a:p>
            <a:pPr algn="ctr">
              <a:spcBef>
                <a:spcPts val="200"/>
              </a:spcBef>
              <a:defRPr sz="950">
                <a:solidFill>
                  <a:srgbClr val="64748B"/>
                </a:solidFill>
                <a:latin typeface="Calibri"/>
              </a:defRPr>
            </a:pPr>
            <a:r>
              <a:t>Actuals contained within P10-P90 cone (Target: 80%)</a:t>
            </a:r>
          </a:p>
        </p:txBody>
      </p:sp>
      <p:sp>
        <p:nvSpPr>
          <p:cNvPr id="10" name="Rectangle 9"/>
          <p:cNvSpPr/>
          <p:nvPr/>
        </p:nvSpPr>
        <p:spPr>
          <a:xfrm>
            <a:off x="8046720" y="1828800"/>
            <a:ext cx="3383280" cy="1371600"/>
          </a:xfrm>
          <a:prstGeom prst="rect">
            <a:avLst/>
          </a:prstGeom>
          <a:solidFill>
            <a:srgbClr val="121824"/>
          </a:solidFill>
          <a:ln w="19050">
            <a:solidFill>
              <a:srgbClr val="C084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3880" y="1920240"/>
            <a:ext cx="3108960" cy="1188720"/>
          </a:xfrm>
          <a:prstGeom prst="rect">
            <a:avLst/>
          </a:prstGeom>
          <a:noFill/>
        </p:spPr>
        <p:txBody>
          <a:bodyPr wrap="square">
            <a:spAutoFit/>
          </a:bodyPr>
          <a:lstStyle/>
          <a:p>
            <a:pPr algn="ctr">
              <a:defRPr sz="2800" b="1">
                <a:solidFill>
                  <a:srgbClr val="C084FC"/>
                </a:solidFill>
                <a:latin typeface="Trebuchet MS"/>
              </a:defRPr>
            </a:pPr>
            <a:r>
              <a:t>26 + 1</a:t>
            </a:r>
          </a:p>
          <a:p>
            <a:pPr algn="ctr">
              <a:spcBef>
                <a:spcPts val="200"/>
              </a:spcBef>
              <a:defRPr sz="1000" b="1">
                <a:solidFill>
                  <a:srgbClr val="F8FAFC"/>
                </a:solidFill>
                <a:latin typeface="Consolas"/>
              </a:defRPr>
            </a:pPr>
            <a:r>
              <a:t>EQUITIES + ASPI</a:t>
            </a:r>
          </a:p>
          <a:p>
            <a:pPr algn="ctr">
              <a:spcBef>
                <a:spcPts val="200"/>
              </a:spcBef>
              <a:defRPr sz="950">
                <a:solidFill>
                  <a:srgbClr val="64748B"/>
                </a:solidFill>
                <a:latin typeface="Calibri"/>
              </a:defRPr>
            </a:pPr>
            <a:r>
              <a:t>Synced, engineered &amp; retrained daily at 15:00 SLST</a:t>
            </a:r>
          </a:p>
        </p:txBody>
      </p:sp>
      <p:sp>
        <p:nvSpPr>
          <p:cNvPr id="12" name="Rectangle 11"/>
          <p:cNvSpPr/>
          <p:nvPr/>
        </p:nvSpPr>
        <p:spPr>
          <a:xfrm>
            <a:off x="731520" y="3429000"/>
            <a:ext cx="10698480" cy="2651760"/>
          </a:xfrm>
          <a:prstGeom prst="rect">
            <a:avLst/>
          </a:prstGeom>
          <a:solidFill>
            <a:srgbClr val="121824"/>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566160"/>
            <a:ext cx="10332720" cy="2377440"/>
          </a:xfrm>
          <a:prstGeom prst="rect">
            <a:avLst/>
          </a:prstGeom>
          <a:noFill/>
        </p:spPr>
        <p:txBody>
          <a:bodyPr wrap="square">
            <a:spAutoFit/>
          </a:bodyPr>
          <a:lstStyle/>
          <a:p>
            <a:pPr>
              <a:defRPr sz="1300" b="1">
                <a:solidFill>
                  <a:srgbClr val="38BDF8"/>
                </a:solidFill>
                <a:latin typeface="Trebuchet MS"/>
              </a:defRPr>
            </a:pPr>
            <a:r>
              <a:t>Zero-Cost Enterprise Cloud Architecture  [ 100% Free Tier Deployment ]</a:t>
            </a:r>
          </a:p>
          <a:p>
            <a:pPr>
              <a:spcBef>
                <a:spcPts val="600"/>
              </a:spcBef>
              <a:defRPr sz="1000">
                <a:solidFill>
                  <a:srgbClr val="F8FAFC"/>
                </a:solidFill>
                <a:latin typeface="Consolas"/>
              </a:defRPr>
            </a:pPr>
            <a:r>
              <a:t>[FRONTEND TERMINAL]       Vercel Edge CDN          : React 19 + TypeScript + TradingView Charts with resilient fallback preview cache.</a:t>
            </a:r>
          </a:p>
          <a:p>
            <a:pPr>
              <a:spcBef>
                <a:spcPts val="600"/>
              </a:spcBef>
              <a:defRPr sz="1000">
                <a:solidFill>
                  <a:srgbClr val="F8FAFC"/>
                </a:solidFill>
                <a:latin typeface="Consolas"/>
              </a:defRPr>
            </a:pPr>
            <a:r>
              <a:t>[BACKEND API SERVING]     Render Docker Service    : Containerized FastAPI exposing Pydantic-typed forecast &amp; explainability routes.</a:t>
            </a:r>
          </a:p>
          <a:p>
            <a:pPr>
              <a:spcBef>
                <a:spcPts val="600"/>
              </a:spcBef>
              <a:defRPr sz="1000">
                <a:solidFill>
                  <a:srgbClr val="F8FAFC"/>
                </a:solidFill>
                <a:latin typeface="Consolas"/>
              </a:defRPr>
            </a:pPr>
            <a:r>
              <a:t>[CLOUD DATABASE]          Supabase PostgreSQL 15   : Connection-pooled database storing prices, forecasts, and MLOps audit traces.</a:t>
            </a:r>
          </a:p>
          <a:p>
            <a:pPr>
              <a:spcBef>
                <a:spcPts val="600"/>
              </a:spcBef>
              <a:defRPr sz="1000">
                <a:solidFill>
                  <a:srgbClr val="F8FAFC"/>
                </a:solidFill>
                <a:latin typeface="Consolas"/>
              </a:defRPr>
            </a:pPr>
            <a:r>
              <a:t>[POST-MARKET CRON]        GitHub Actions Workflows : Triggers every weekday at 15:00 SLST for ingestion, model retraining, and deploy hooks.</a:t>
            </a:r>
          </a:p>
        </p:txBody>
      </p:sp>
      <p:sp>
        <p:nvSpPr>
          <p:cNvPr id="14" name="TextBox 13"/>
          <p:cNvSpPr txBox="1"/>
          <p:nvPr/>
        </p:nvSpPr>
        <p:spPr>
          <a:xfrm>
            <a:off x="731520" y="6263640"/>
            <a:ext cx="10698480" cy="365760"/>
          </a:xfrm>
          <a:prstGeom prst="rect">
            <a:avLst/>
          </a:prstGeom>
          <a:noFill/>
        </p:spPr>
        <p:txBody>
          <a:bodyPr wrap="none">
            <a:spAutoFit/>
          </a:bodyPr>
          <a:lstStyle/>
          <a:p>
            <a:pPr>
              <a:defRPr sz="1000">
                <a:solidFill>
                  <a:srgbClr val="64748B"/>
                </a:solidFill>
                <a:latin typeface="Consolas"/>
              </a:defRPr>
            </a:pPr>
            <a:r>
              <a:t>[Live Terminal: cse-market-intelligence.vercel.app] • [GitHub: madushanka-ti/cse-market-intelligence]</a:t>
            </a:r>
            <a:r>
              <a:rPr b="1">
                <a:solidFill>
                  <a:srgbClr val="38BDF8"/>
                </a:solidFill>
              </a:rPr>
              <a:t>   |   [05 / 05]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