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772400" cy="9715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97155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[ 01 / THE PROBLEM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Why Stock AI Models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Most financial machine learning models collapse in real trading due to two critical engineering traps.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6492240" cy="2651760"/>
          </a:xfrm>
          <a:prstGeom prst="rect">
            <a:avLst/>
          </a:prstGeom>
          <a:solidFill>
            <a:srgbClr val="11172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6126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Consolas"/>
              </a:defRPr>
            </a:pPr>
            <a:r>
              <a:t>TRAP 1: THE COPY-PASTE IDENTITY BUG</a:t>
            </a:r>
          </a:p>
          <a:p>
            <a:pPr>
              <a:spcBef>
                <a:spcPts val="600"/>
              </a:spcBef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Predicting Raw Stock Prices (P_t+30)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Because raw stock prices change slowly day-to-day, naive AI models simply output yesterday's price as tomorrow's forecast. It shows a fake 98% R² score on paper, but has zero real predictive alpha.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52160"/>
            <a:ext cx="6492240" cy="2651760"/>
          </a:xfrm>
          <a:prstGeom prst="rect">
            <a:avLst/>
          </a:prstGeom>
          <a:solidFill>
            <a:srgbClr val="11172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6126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Consolas"/>
              </a:defRPr>
            </a:pPr>
            <a:r>
              <a:t>TRAP 2: LOOKAHEAD DATA LEAKAGE</a:t>
            </a:r>
          </a:p>
          <a:p>
            <a:pPr>
              <a:spcBef>
                <a:spcPts val="600"/>
              </a:spcBef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Overlapping Future Data in Training Splits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Standard random train/test splits accidentally let future 30-day stock returns leak into past training sets. The model memorizes future knowledge and fails completely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006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COLOMBO STOCK EXCHANGE (CSE) ML</a:t>
            </a:r>
            <a:r>
              <a:rPr b="1">
                <a:solidFill>
                  <a:srgbClr val="38BDF8"/>
                </a:solidFill>
              </a:rPr>
              <a:t>   |   Swipe 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97155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[ 02 / HOW I SOLVED IT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Stationary Targets &amp; Risk Cones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I rebuilt the learning formulation and validation structure to ensure true out-of-sample 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6492240" cy="1691640"/>
          </a:xfrm>
          <a:prstGeom prst="rect">
            <a:avLst/>
          </a:prstGeom>
          <a:solidFill>
            <a:srgbClr val="1117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1. PREDICTING 30-DAY FORWARD LOG RETURN</a:t>
            </a:r>
          </a:p>
          <a:p>
            <a:pPr>
              <a:spcBef>
                <a:spcPts val="400"/>
              </a:spcBef>
              <a:defRPr sz="1550" b="1">
                <a:solidFill>
                  <a:srgbClr val="F8FAFC"/>
                </a:solidFill>
                <a:latin typeface="Trebuchet MS"/>
              </a:defRPr>
            </a:pPr>
            <a:r>
              <a:t>y_t = ln( P_{t+30} / P_t )</a:t>
            </a:r>
          </a:p>
          <a:p>
            <a:pPr>
              <a:spcBef>
                <a:spcPts val="5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Forces models to predict momentum and trend instead of static price levels, enforcing stationarity across 26 equities.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6492240" cy="169164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01768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2. MULTI-QUANTILE RISK ENVELOPES (PINBALL LOSS)</a:t>
            </a:r>
          </a:p>
          <a:p>
            <a:pPr>
              <a:spcBef>
                <a:spcPts val="400"/>
              </a:spcBef>
              <a:defRPr sz="1550" b="1">
                <a:solidFill>
                  <a:srgbClr val="F8FAFC"/>
                </a:solidFill>
                <a:latin typeface="Trebuchet MS"/>
              </a:defRPr>
            </a:pPr>
            <a:r>
              <a:t>P10 Downside Floor + P50 Median + P90 Ceiling</a:t>
            </a:r>
          </a:p>
          <a:p>
            <a:pPr>
              <a:spcBef>
                <a:spcPts val="5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Replaced dangerous single price guesses with probabilistic uncertainty envelopes, giving investors downside protection.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766559"/>
            <a:ext cx="6492240" cy="1691640"/>
          </a:xfrm>
          <a:prstGeom prst="rect">
            <a:avLst/>
          </a:prstGeom>
          <a:solidFill>
            <a:srgbClr val="111722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876287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3. PURGED &amp; EMBARGOED CROSS-VALIDATION</a:t>
            </a:r>
          </a:p>
          <a:p>
            <a:pPr>
              <a:spcBef>
                <a:spcPts val="400"/>
              </a:spcBef>
              <a:defRPr sz="1550" b="1">
                <a:solidFill>
                  <a:srgbClr val="F8FAFC"/>
                </a:solidFill>
                <a:latin typeface="Trebuchet MS"/>
              </a:defRPr>
            </a:pPr>
            <a:r>
              <a:t>30-Day Purge Gap + 30-Day Embargo Buffer</a:t>
            </a:r>
          </a:p>
          <a:p>
            <a:pPr>
              <a:spcBef>
                <a:spcPts val="5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Guarantees 100% leak-free evaluation by removing overlapping return labels and killing serial correlation.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9006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COLOMBO STOCK EXCHANGE (CSE) ML</a:t>
            </a:r>
            <a:r>
              <a:rPr b="1">
                <a:solidFill>
                  <a:srgbClr val="38BDF8"/>
                </a:solidFill>
              </a:rPr>
              <a:t>   |   Swipe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97155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[ 03 / SYSTEM ARCHITECTURE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End-to-End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 resilient, production-grade cloud topology designed for automated daily operation.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6492240" cy="128016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1. DATA INGESTION ENGINE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Daily Automated CSE Scraper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Automated cron jobs execute at 15:00 SLST market close, syncing 26 blue chips + ASPI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6492240" cy="128016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7992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2. VECTORIZED LAKEHOUSE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Apache Parquet Feature Store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Zero-copy columnar format computing 22 indicators (Parkinson volatility, RSI, MACD, beta) in milliseconds.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852160"/>
            <a:ext cx="6492240" cy="1280160"/>
          </a:xfrm>
          <a:prstGeom prst="rect">
            <a:avLst/>
          </a:prstGeom>
          <a:solidFill>
            <a:srgbClr val="1117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25312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3. BACKEND SERVING API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Dockerized FastAPI on Render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High-speed REST API executing real-time multi-quantile LightGBM inferences and TreeSHAP explainability.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7269480"/>
            <a:ext cx="6492240" cy="1280160"/>
          </a:xfrm>
          <a:prstGeom prst="rect">
            <a:avLst/>
          </a:prstGeom>
          <a:solidFill>
            <a:srgbClr val="111722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7342632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084FC"/>
                </a:solidFill>
                <a:latin typeface="Consolas"/>
              </a:defRPr>
            </a:pPr>
            <a:r>
              <a:t>4. DATABASE &amp; FRONTEND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Supabase PostgreSQL + React 19 on Vercel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PostgreSQL database with composite PK idempotent upserts, paired with an interactive TradingView terminal.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9006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COLOMBO STOCK EXCHANGE (CSE) ML</a:t>
            </a:r>
            <a:r>
              <a:rPr b="1">
                <a:solidFill>
                  <a:srgbClr val="38BDF8"/>
                </a:solidFill>
              </a:rPr>
              <a:t>   |   Swipe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97155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[ 04 / TECHNOLOGIES USED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Production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Modern tools and frameworks chosen for speed, scalability, and zero hosting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3154680" cy="2514600"/>
          </a:xfrm>
          <a:prstGeom prst="rect">
            <a:avLst/>
          </a:prstGeom>
          <a:solidFill>
            <a:srgbClr val="1117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2834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AI &amp; MACHINE LEARNING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LightGBM: Multi-Quantile Pinball loss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Scikit-Learn: Time-series validation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TreeSHAP: Explainable AI attributions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NumPy &amp; Pandas: Vectorized series math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3017520"/>
            <a:ext cx="3154680" cy="251460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1" y="3154680"/>
            <a:ext cx="2834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DATA ENGINEERING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Apache Parquet: Columnar zero-copy store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DuckDB &amp; PyArrow: High-speed analytics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Technical Indicators: 22 market estimators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Automated Cron: Daily 15:00 SLST ETL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3154680" cy="2514600"/>
          </a:xfrm>
          <a:prstGeom prst="rect">
            <a:avLst/>
          </a:prstGeom>
          <a:solidFill>
            <a:srgbClr val="111722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897880"/>
            <a:ext cx="2834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BACKEND &amp; CLOUD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Python FastAPI: Asynchronous REST API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Docker Container: Isolated deployment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Supabase / Postgres: Database storage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GitHub Actions: CI/CD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60720"/>
            <a:ext cx="3154680" cy="2514600"/>
          </a:xfrm>
          <a:prstGeom prst="rect">
            <a:avLst/>
          </a:prstGeom>
          <a:solidFill>
            <a:srgbClr val="11172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5897880"/>
            <a:ext cx="2834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7171"/>
                </a:solidFill>
                <a:latin typeface="Consolas"/>
              </a:defRPr>
            </a:pPr>
            <a:r>
              <a:t>FRONTEND &amp; UI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React 19 &amp; TypeScript: Modern web app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TradingView Charts: Interactive canvas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Vercel Edge: Global low-latency CDN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Pytest: 29-test automated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9006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COLOMBO STOCK EXCHANGE (CSE) ML</a:t>
            </a:r>
            <a:r>
              <a:rPr b="1">
                <a:solidFill>
                  <a:srgbClr val="38BDF8"/>
                </a:solidFill>
              </a:rPr>
              <a:t>   |   Swipe 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97155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[ 05 / ACCURACIES &amp; RESULTS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Empirical Results &amp; Accuracies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Rigorous out-of-sample metrics proving real market edge over random walk baselines.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2011680" cy="173736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58.3%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F8FAFC"/>
                </a:solidFill>
                <a:latin typeface="Consolas"/>
              </a:defRPr>
            </a:pPr>
            <a:r>
              <a:t>DIRECTION ACCURACY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+8.3% over Random Walk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3017520"/>
            <a:ext cx="2011680" cy="1737360"/>
          </a:xfrm>
          <a:prstGeom prst="rect">
            <a:avLst/>
          </a:prstGeom>
          <a:solidFill>
            <a:srgbClr val="1117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1546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Trebuchet MS"/>
              </a:defRPr>
            </a:pPr>
            <a:r>
              <a:t>79.4%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F8FAFC"/>
                </a:solidFill>
                <a:latin typeface="Consolas"/>
              </a:defRPr>
            </a:pPr>
            <a:r>
              <a:t>EMPIRICAL COVERAGE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Inside P10-P90 Risk 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017520"/>
            <a:ext cx="2011680" cy="1737360"/>
          </a:xfrm>
          <a:prstGeom prst="rect">
            <a:avLst/>
          </a:prstGeom>
          <a:solidFill>
            <a:srgbClr val="111722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1546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84FC"/>
                </a:solidFill>
                <a:latin typeface="Trebuchet MS"/>
              </a:defRPr>
            </a:pPr>
            <a:r>
              <a:t>26+1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F8FAFC"/>
                </a:solidFill>
                <a:latin typeface="Consolas"/>
              </a:defRPr>
            </a:pPr>
            <a:r>
              <a:t>ASSETS TRACKED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Equities + ASPI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6492240" cy="1737360"/>
          </a:xfrm>
          <a:prstGeom prst="rect">
            <a:avLst/>
          </a:prstGeom>
          <a:solidFill>
            <a:srgbClr val="1117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KEY ENGINEERING TAKEAWAY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By replacing naive raw price prediction with stationary 30-day forward returns and purged cross-validation, the model achieves a statistically significant +8.3% directional edge across all 26 CSE blue chips without overfitting.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812280"/>
            <a:ext cx="6492240" cy="1737360"/>
          </a:xfrm>
          <a:prstGeom prst="rect">
            <a:avLst/>
          </a:prstGeom>
          <a:solidFill>
            <a:srgbClr val="1117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90372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TESTING &amp; AUDITING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29 automated Pytest unit tests run in CI/CD pipeline verifying: TreeSHAP exact mathematical additivity, zero lookahead leakage, data pipeline idempotency, and API endpoints.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006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COLOMBO STOCK EXCHANGE (CSE) ML</a:t>
            </a:r>
            <a:r>
              <a:rPr b="1">
                <a:solidFill>
                  <a:srgbClr val="38BDF8"/>
                </a:solidFill>
              </a:rPr>
              <a:t>   |   [05 / 05]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